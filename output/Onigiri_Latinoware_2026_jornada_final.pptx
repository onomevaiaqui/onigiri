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a4bfe3ef444cbd" /><Relationship Type="http://schemas.openxmlformats.org/officeDocument/2006/relationships/extended-properties" Target="/docProps/app.xml" Id="Re0401f34277b4542" /><Relationship Type="http://schemas.openxmlformats.org/officeDocument/2006/relationships/officeDocument" Target="/ppt/presentation.xml" Id="Rda9fee70c80348d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b6c62f0c0ee4b77"/>
  </p:sldMasterIdLst>
  <p:notesMasterIdLst>
    <p:notesMasterId xmlns:r="http://schemas.openxmlformats.org/officeDocument/2006/relationships" r:id="R8e9e158c91c54993"/>
  </p:notesMasterIdLst>
  <p:sldIdLst>
    <p:sldId xmlns:r="http://schemas.openxmlformats.org/officeDocument/2006/relationships" id="256" r:id="R9ac33951cd624ce6"/>
    <p:sldId xmlns:r="http://schemas.openxmlformats.org/officeDocument/2006/relationships" id="257" r:id="R10e2b7129c464fc2"/>
    <p:sldId xmlns:r="http://schemas.openxmlformats.org/officeDocument/2006/relationships" id="258" r:id="Rbea801df11174b4c"/>
    <p:sldId xmlns:r="http://schemas.openxmlformats.org/officeDocument/2006/relationships" id="259" r:id="R04c2549791084f3f"/>
    <p:sldId xmlns:r="http://schemas.openxmlformats.org/officeDocument/2006/relationships" id="260" r:id="R9911ce1334ed4df0"/>
    <p:sldId xmlns:r="http://schemas.openxmlformats.org/officeDocument/2006/relationships" id="261" r:id="Ree548ad209b34d3e"/>
    <p:sldId xmlns:r="http://schemas.openxmlformats.org/officeDocument/2006/relationships" id="262" r:id="Ra8fb718378c94075"/>
    <p:sldId xmlns:r="http://schemas.openxmlformats.org/officeDocument/2006/relationships" id="263" r:id="Rd8ee0daad2244a42"/>
    <p:sldId xmlns:r="http://schemas.openxmlformats.org/officeDocument/2006/relationships" id="264" r:id="Rc8b309269a854353"/>
    <p:sldId xmlns:r="http://schemas.openxmlformats.org/officeDocument/2006/relationships" id="265" r:id="R987ddac2fdb84300"/>
    <p:sldId xmlns:r="http://schemas.openxmlformats.org/officeDocument/2006/relationships" id="266" r:id="Re5abac22867e45fb"/>
    <p:sldId xmlns:r="http://schemas.openxmlformats.org/officeDocument/2006/relationships" id="267" r:id="R89ecd932aaef4ef0"/>
    <p:sldId xmlns:r="http://schemas.openxmlformats.org/officeDocument/2006/relationships" id="268" r:id="R4aeb0b6790814dbb"/>
    <p:sldId xmlns:r="http://schemas.openxmlformats.org/officeDocument/2006/relationships" id="269" r:id="R4865d9dc635f45f5"/>
    <p:sldId xmlns:r="http://schemas.openxmlformats.org/officeDocument/2006/relationships" id="270" r:id="R8d28d13d4c4b48aa"/>
  </p:sldIdLst>
  <p:sldSz cx="18288000" cy="10287000"/>
  <p:notesSz cx="6858000" cy="9144000"/>
  <p:embeddedFontLst>
    <p:embeddedFont>
      <p:font typeface="Arial Bold"/>
      <p:regular xmlns:r="http://schemas.openxmlformats.org/officeDocument/2006/relationships" r:id="R0591128d07174b60"/>
    </p:embeddedFont>
    <p:embeddedFont>
      <p:font typeface="Arial"/>
      <p:regular xmlns:r="http://schemas.openxmlformats.org/officeDocument/2006/relationships" r:id="Rdbdbaec6038349c3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f210ad35514bb2" /><Relationship Type="http://schemas.openxmlformats.org/officeDocument/2006/relationships/slideMaster" Target="/ppt/slideMasters/slideMaster1.xml" Id="Rcb6c62f0c0ee4b77" /><Relationship Type="http://schemas.openxmlformats.org/officeDocument/2006/relationships/notesMaster" Target="/ppt/notesMasters/notesMaster1.xml" Id="R8e9e158c91c54993" /><Relationship Type="http://schemas.openxmlformats.org/officeDocument/2006/relationships/presProps" Target="/ppt/presProps.xml" Id="Rabe0d9ff1e424d31" /><Relationship Type="http://schemas.openxmlformats.org/officeDocument/2006/relationships/viewProps" Target="/ppt/viewProps.xml" Id="Rd7ead413e3284b93" /><Relationship Type="http://schemas.openxmlformats.org/officeDocument/2006/relationships/tableStyles" Target="/ppt/tableStyles.xml" Id="R20e4f85e22c840bc" /><Relationship Type="http://schemas.openxmlformats.org/officeDocument/2006/relationships/font" Target="/ppt/fonts/font.dat" Id="R0591128d07174b60" /><Relationship Type="http://schemas.openxmlformats.org/officeDocument/2006/relationships/font" Target="/ppt/fonts/font2.dat" Id="Rdbdbaec6038349c3" /><Relationship Type="http://schemas.openxmlformats.org/officeDocument/2006/relationships/slide" Target="/ppt/slides/slide1.xml" Id="R9ac33951cd624ce6" /><Relationship Type="http://schemas.openxmlformats.org/officeDocument/2006/relationships/slide" Target="/ppt/slides/slide2.xml" Id="R10e2b7129c464fc2" /><Relationship Type="http://schemas.openxmlformats.org/officeDocument/2006/relationships/slide" Target="/ppt/slides/slide3.xml" Id="Rbea801df11174b4c" /><Relationship Type="http://schemas.openxmlformats.org/officeDocument/2006/relationships/slide" Target="/ppt/slides/slide4.xml" Id="R04c2549791084f3f" /><Relationship Type="http://schemas.openxmlformats.org/officeDocument/2006/relationships/slide" Target="/ppt/slides/slide5.xml" Id="R9911ce1334ed4df0" /><Relationship Type="http://schemas.openxmlformats.org/officeDocument/2006/relationships/slide" Target="/ppt/slides/slide6.xml" Id="Ree548ad209b34d3e" /><Relationship Type="http://schemas.openxmlformats.org/officeDocument/2006/relationships/slide" Target="/ppt/slides/slide7.xml" Id="Ra8fb718378c94075" /><Relationship Type="http://schemas.openxmlformats.org/officeDocument/2006/relationships/slide" Target="/ppt/slides/slide8.xml" Id="Rd8ee0daad2244a42" /><Relationship Type="http://schemas.openxmlformats.org/officeDocument/2006/relationships/slide" Target="/ppt/slides/slide9.xml" Id="Rc8b309269a854353" /><Relationship Type="http://schemas.openxmlformats.org/officeDocument/2006/relationships/slide" Target="/ppt/slides/slide10.xml" Id="R987ddac2fdb84300" /><Relationship Type="http://schemas.openxmlformats.org/officeDocument/2006/relationships/slide" Target="/ppt/slides/slide11.xml" Id="Re5abac22867e45fb" /><Relationship Type="http://schemas.openxmlformats.org/officeDocument/2006/relationships/slide" Target="/ppt/slides/slide12.xml" Id="R89ecd932aaef4ef0" /><Relationship Type="http://schemas.openxmlformats.org/officeDocument/2006/relationships/slide" Target="/ppt/slides/slide13.xml" Id="R4aeb0b6790814dbb" /><Relationship Type="http://schemas.openxmlformats.org/officeDocument/2006/relationships/slide" Target="/ppt/slides/slide14.xml" Id="R4865d9dc635f45f5" /><Relationship Type="http://schemas.openxmlformats.org/officeDocument/2006/relationships/slide" Target="/ppt/slides/slide15.xml" Id="R8d28d13d4c4b48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1b3c12a43f47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97c7f194194c13" /><Relationship Type="http://schemas.openxmlformats.org/officeDocument/2006/relationships/notesMaster" Target="/ppt/notesMasters/notesMaster1.xml" Id="R0c2ee19d82da4c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7d5b0c794b48ef" /><Relationship Type="http://schemas.openxmlformats.org/officeDocument/2006/relationships/notesMaster" Target="/ppt/notesMasters/notesMaster1.xml" Id="Rd2a171b6eb9147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ef52becdae4cbd" /><Relationship Type="http://schemas.openxmlformats.org/officeDocument/2006/relationships/notesMaster" Target="/ppt/notesMasters/notesMaster1.xml" Id="Rc37585cd3d344e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2f8aa093014ee8" /><Relationship Type="http://schemas.openxmlformats.org/officeDocument/2006/relationships/notesMaster" Target="/ppt/notesMasters/notesMaster1.xml" Id="Rb37d32bf4b374b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a2d9dc6d1a42cc" /><Relationship Type="http://schemas.openxmlformats.org/officeDocument/2006/relationships/notesMaster" Target="/ppt/notesMasters/notesMaster1.xml" Id="R2bbd0dd1018d4a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ba1a83273a42ba" /><Relationship Type="http://schemas.openxmlformats.org/officeDocument/2006/relationships/notesMaster" Target="/ppt/notesMasters/notesMaster1.xml" Id="Rc42c97bc505b47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760b7d023a456c" /><Relationship Type="http://schemas.openxmlformats.org/officeDocument/2006/relationships/notesMaster" Target="/ppt/notesMasters/notesMaster1.xml" Id="Rd7de391376a444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f03bc7fb764bb8" /><Relationship Type="http://schemas.openxmlformats.org/officeDocument/2006/relationships/notesMaster" Target="/ppt/notesMasters/notesMaster1.xml" Id="R1e712c7b234e42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1104e9ef374670" /><Relationship Type="http://schemas.openxmlformats.org/officeDocument/2006/relationships/notesMaster" Target="/ppt/notesMasters/notesMaster1.xml" Id="Re661bb226d0d48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850aaf0f1f4a16" /><Relationship Type="http://schemas.openxmlformats.org/officeDocument/2006/relationships/notesMaster" Target="/ppt/notesMasters/notesMaster1.xml" Id="Rf40c8ebdbafd42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039158e3c240ab" /><Relationship Type="http://schemas.openxmlformats.org/officeDocument/2006/relationships/notesMaster" Target="/ppt/notesMasters/notesMaster1.xml" Id="R1576da30f96348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b9c5537fd5440c" /><Relationship Type="http://schemas.openxmlformats.org/officeDocument/2006/relationships/notesMaster" Target="/ppt/notesMasters/notesMaster1.xml" Id="R81e1094baa454b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38128eaed34e9a" /><Relationship Type="http://schemas.openxmlformats.org/officeDocument/2006/relationships/notesMaster" Target="/ppt/notesMasters/notesMaster1.xml" Id="Rd31908a2a22940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338053ccf74935" /><Relationship Type="http://schemas.openxmlformats.org/officeDocument/2006/relationships/notesMaster" Target="/ppt/notesMasters/notesMaster1.xml" Id="R714bcf49cbe74e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2fb32aa3dd41b5" /><Relationship Type="http://schemas.openxmlformats.org/officeDocument/2006/relationships/notesMaster" Target="/ppt/notesMasters/notesMaster1.xml" Id="R3a4c580cc4f84f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apresentando o nome e o formato do robô. A palestra não começa pelo ROS: começa por uma necessidade humana e mostra como tecnologias abertas se conectam até virar uma solução.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exemplos do próprio evento: recepção, auditório, banheiro, oficina ou estande. Evite prometer uma tecnologia assistiva certificada; apresente o projeto como orientação inclusiva em evolução.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 a jornada completa do visitante. Esta é a demonstração que dará sentido a todas as camadas técnicas apresentadas nos próximos slides.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uma foto real ou render do protótipo quando estiver disponível. Explique que o nome Oniguiri nasceu do formato triangular — uma identidade fácil de lembrar e coerente com a mecânica.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Diferencie software de código aberto, documentação pública e open hardware. A abertura do Oniguiri deve alcançar o objeto físico, as decisões de projeto e os materiais para reprodução.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 Source Hardware Association — Definition: https://www.oshwa.org/definition/</a:t>
            </a:r>
          </a:p>
          <a:p xmlns:a="http://schemas.openxmlformats.org/drawingml/2006/main">
            <a:r>
              <a:t>- Open Source Initiative — Open Source Definition: https://opensource.org/osd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esta arquitetura como o mapa mental da palestra. Ela evita que o projeto fique preso a uma placa, sensor ou fabricante específico.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 separação entre alimentação lógica e potência. O botão de emergência deve interromper fisicamente a energia dos motores; fusível e proteção da bateria completam a camada elétrica básica.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entre imediatamente nas equações. Demonstre as direções e explique que o controlador transforma velocidade linear em X/Y e rotação em velocidades individuais dos três motores.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ROS 2 como uma infraestrutura de comunicação e organização, e não como um programa único. Cite tópicos como /cmd_vel apenas depois que o público entender o fluxo.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ROS 2 documentation — Concepts: https://docs.ros.org/en/jazzy/Concepts.html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o mapa não é uma planta arquitetônica perfeita: é uma representação utilizada para localização e planejamento. Depois de salvo, pontos do mapa recebem nomes compreensíveis para as pessoas.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SLAM Toolbox documentation: https://docs.ros.org/en/ros2_packages/jazzy/api/slam_toolbox/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Dê ao LiDAR o papel principal no primeiro protótipo de navegação. A IMU melhora a estimativa de orientação; sensores ToF complementam a detecção próxima; a câmera pode ganhar funções depois.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ciclo contínuo da navegação. O planejador não envia o robô diretamente ao destino: ele recalcula comandos enquanto novos dados chegam. Destaque a hierarquia de segurança.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Nav2 documentation: https://docs.nav2.org/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o primeiro protótipo, limite os comandos e os destinos. A resposta deve confirmar o destino antes de iniciar o movimento. O controle por voz nunca substitui o botão físico de emergência.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Descreva a demonstração planejada para a Latinoware. Mesmo que alguma parte ainda esteja em desenvolvimento, mostre claramente a evolução e publique os aprendizados, inclusive limitações e falhas.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Retome a pergunta inicial: e se o mapa pudesse vir até a pessoa? Encerre mostrando que a solução só permanece útil se puder ser compreendida, reproduzida e adaptada pela comunidade.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c79fb3ef12423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250ba2c7d4d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5d5ad94e74dd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9a9146f4324b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62841da164b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0d14fe57540c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8f5e3edcf49b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614b0cf9464b1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891e40ece49c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aa7ad8c8d4e8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f972b67104c9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5A2146-2FF8-41C4-8B9F-F4765EC5DFD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3DD3AD-A376-40FF-A2A5-F2160BAFD3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FF989F-615F-490E-A531-D8CFF890EF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5363-1849-40B0-97F9-8D00A5FA32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A5B75F-4BEC-4A0D-B6D7-96CE7B5858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C5F5C6-728D-43E3-A6F6-1BE69B063A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A01830D-6A50-4B58-9AFD-2B2406502CC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FED571-F25C-4FAD-AA76-D3D862A060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19556E-137B-478B-83BB-FD1325BD57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54E3B0-1356-4817-85DA-BE72F3E4C0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7B7768-6076-4FC0-89A9-3CC989EC82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182781B-A5FB-427D-A3C2-58BA89F9EC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718F46-0BD6-4000-8837-02791FDC48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955922-0807-44A8-B014-EB1091B800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9F29C1-0FEA-48E3-B25E-1C5A281266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7FF984-10E8-4845-8E4E-E40B38A19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94F90C-8543-4763-94E3-35A91761491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0B0F4D3-140D-4BB4-9ACC-6FC6231D6B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9E69C46-8040-4B41-89A1-716149BCA3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46BF483-8C68-427F-B37F-17946E0BE6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C748C6-FDCC-4E46-8FA1-C65CE328BD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23960F-38ED-46FB-A074-8F90027DE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7186DDA-489E-4172-A81D-30586FD44C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2C66BA4-357B-49AA-89D1-1DA789404ED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B371694-6EA4-433E-BE2D-4FE066912C4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05581DE-7F7D-4FED-823F-3E629D5AC5A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A170FB2-5C4F-4001-B35A-A489C5A85D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ED02239-4080-4296-8E49-594750609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4C340D9-4F21-4474-9E39-05B14FA5E7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118E38-91C8-4801-B978-E45F1127FD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3C4320A-BAD4-4629-A063-4B5ED9D87D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78A26A7-745D-46F1-8384-24B066F9AC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CA53B81-F0FC-415B-B46F-3C05F1980F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6FD4E4B-CF41-4944-B08D-68CCE63229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44B4819-11EC-4CCD-BA4D-38C2A2218A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EBB1C37-1E0A-4FF1-8AF3-1320F44D38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13756E-0603-45C2-A594-0904DDBD82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6085730-BA69-4959-B2A2-BBAF8B29C3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1118B3B-B709-4CAC-B274-5E821A66DE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95D871-1A3F-4AC0-878A-7B8F8002B9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E6C689A-3520-4EBB-BFF1-73C6256BC1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6D82AF7-59E8-4C17-8E6E-E34D158837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1FE739-D1A2-4F66-809A-5098756D71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EC1C2D3-1AA1-4CE3-B5E4-ED1AFCB714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7FC704F-8DD3-43B6-B362-002D4DB1C4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90BE7FE-2E78-44C7-AE22-8109083F4E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CB4773D-D57E-406E-A7C8-C08CEF571D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E3ABCE3-2A64-49AD-AA38-EEBC14EA36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99D467-B9BA-41A0-8745-EEF19253F6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CB2E86-0AEB-48F6-8087-6AC48FF82D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2185083-A418-45C0-8FDE-55FC010256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9E338B-7765-4C85-B1E1-196A6D15D3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E94A9C-8CCB-4836-AB64-C613518DFF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65FB264-E352-404D-B256-1F6FC0E5FB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C82FDB-5A89-4B8F-86BD-F26A1C82B0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9536B1-74E2-4B48-9B39-938E28BA1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A5DDEC4-2D27-4E7E-8C2D-24077E4363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C0548D-A100-4EDB-8819-AD6558FA36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18e1bec1544d73" /><Relationship Type="http://schemas.openxmlformats.org/officeDocument/2006/relationships/slideLayout" Target="/ppt/slideLayouts/slideLayout1.xml" Id="Re419e83d34ca40be" /><Relationship Type="http://schemas.openxmlformats.org/officeDocument/2006/relationships/slideLayout" Target="/ppt/slideLayouts/slideLayout2.xml" Id="R82bf9b517a1a4a58" /><Relationship Type="http://schemas.openxmlformats.org/officeDocument/2006/relationships/slideLayout" Target="/ppt/slideLayouts/slideLayout3.xml" Id="Rc2bc97ce981c4eb8" /><Relationship Type="http://schemas.openxmlformats.org/officeDocument/2006/relationships/slideLayout" Target="/ppt/slideLayouts/slideLayout4.xml" Id="R712e707513e6464a" /><Relationship Type="http://schemas.openxmlformats.org/officeDocument/2006/relationships/slideLayout" Target="/ppt/slideLayouts/slideLayout5.xml" Id="R3e7249307c604270" /><Relationship Type="http://schemas.openxmlformats.org/officeDocument/2006/relationships/slideLayout" Target="/ppt/slideLayouts/slideLayout6.xml" Id="R375f47133a7f47f2" /><Relationship Type="http://schemas.openxmlformats.org/officeDocument/2006/relationships/slideLayout" Target="/ppt/slideLayouts/slideLayout7.xml" Id="Rf40753ee1fbc4088" /><Relationship Type="http://schemas.openxmlformats.org/officeDocument/2006/relationships/slideLayout" Target="/ppt/slideLayouts/slideLayout8.xml" Id="Rad48c80982c24bb1" /><Relationship Type="http://schemas.openxmlformats.org/officeDocument/2006/relationships/slideLayout" Target="/ppt/slideLayouts/slideLayout9.xml" Id="Rb66c13acf67b462e" /><Relationship Type="http://schemas.openxmlformats.org/officeDocument/2006/relationships/slideLayout" Target="/ppt/slideLayouts/slideLayout10.xml" Id="R491f19a83d9a4ca3" /><Relationship Type="http://schemas.openxmlformats.org/officeDocument/2006/relationships/slideLayout" Target="/ppt/slideLayouts/slideLayout11.xml" Id="Reb3b791dbf6847b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3324EB3-4592-4C36-91CC-5A1CBBB86B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3DC1243-724F-4D0F-A4D4-201B5BAE09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3EDEE1-9F0A-4881-8660-D9E2F13A325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945BCC-E028-47B3-84D4-8BAE3F55717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75D370-79B2-4885-A31C-9A9F739E0F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19e83d34ca40be"/>
    <p:sldLayoutId xmlns:r="http://schemas.openxmlformats.org/officeDocument/2006/relationships" id="2147483650" r:id="R82bf9b517a1a4a58"/>
    <p:sldLayoutId xmlns:r="http://schemas.openxmlformats.org/officeDocument/2006/relationships" id="2147483651" r:id="Rc2bc97ce981c4eb8"/>
    <p:sldLayoutId xmlns:r="http://schemas.openxmlformats.org/officeDocument/2006/relationships" id="2147483652" r:id="R712e707513e6464a"/>
    <p:sldLayoutId xmlns:r="http://schemas.openxmlformats.org/officeDocument/2006/relationships" id="2147483653" r:id="R3e7249307c604270"/>
    <p:sldLayoutId xmlns:r="http://schemas.openxmlformats.org/officeDocument/2006/relationships" id="2147483654" r:id="R375f47133a7f47f2"/>
    <p:sldLayoutId xmlns:r="http://schemas.openxmlformats.org/officeDocument/2006/relationships" id="2147483655" r:id="Rf40753ee1fbc4088"/>
    <p:sldLayoutId xmlns:r="http://schemas.openxmlformats.org/officeDocument/2006/relationships" id="2147483656" r:id="Rad48c80982c24bb1"/>
    <p:sldLayoutId xmlns:r="http://schemas.openxmlformats.org/officeDocument/2006/relationships" id="2147483657" r:id="Rb66c13acf67b462e"/>
    <p:sldLayoutId xmlns:r="http://schemas.openxmlformats.org/officeDocument/2006/relationships" id="2147483658" r:id="R491f19a83d9a4ca3"/>
    <p:sldLayoutId xmlns:r="http://schemas.openxmlformats.org/officeDocument/2006/relationships" id="2147483659" r:id="Reb3b791dbf6847b8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3a9c462d8848b4" /><Relationship Type="http://schemas.openxmlformats.org/officeDocument/2006/relationships/image" Target="/ppt/media/image.png" Id="Ref21502c1bcc4088" /><Relationship Type="http://schemas.openxmlformats.org/officeDocument/2006/relationships/notesSlide" Target="/ppt/notesSlides/notesSlide1.xml" Id="Rc9fc419d47ea45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2b5eb344d994669" /><Relationship Type="http://schemas.openxmlformats.org/officeDocument/2006/relationships/notesSlide" Target="/ppt/notesSlides/notesSlide2.xml" Id="Rbdea08d382ed4d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437c57aa3f49db" /><Relationship Type="http://schemas.openxmlformats.org/officeDocument/2006/relationships/notesSlide" Target="/ppt/notesSlides/notesSlide3.xml" Id="R57d9c7b6d0a94a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90c71984634f6d" /><Relationship Type="http://schemas.openxmlformats.org/officeDocument/2006/relationships/image" Target="/ppt/media/image.png" Id="Rab75643b932344a8" /><Relationship Type="http://schemas.openxmlformats.org/officeDocument/2006/relationships/notesSlide" Target="/ppt/notesSlides/notesSlide4.xml" Id="Re91ce1964f9440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3e4983276d4fca" /><Relationship Type="http://schemas.openxmlformats.org/officeDocument/2006/relationships/notesSlide" Target="/ppt/notesSlides/notesSlide5.xml" Id="Rda03d3af64dc45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c82899668e4cc5" /><Relationship Type="http://schemas.openxmlformats.org/officeDocument/2006/relationships/notesSlide" Target="/ppt/notesSlides/notesSlide6.xml" Id="R713e652c26fc49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2a066997124d57" /><Relationship Type="http://schemas.openxmlformats.org/officeDocument/2006/relationships/notesSlide" Target="/ppt/notesSlides/notesSlide7.xml" Id="Rafab1505e0e44e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7ced40b81046cc" /><Relationship Type="http://schemas.openxmlformats.org/officeDocument/2006/relationships/notesSlide" Target="/ppt/notesSlides/notesSlide8.xml" Id="Rc5278f6095ff4e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c57c69263f4a56" /><Relationship Type="http://schemas.openxmlformats.org/officeDocument/2006/relationships/notesSlide" Target="/ppt/notesSlides/notesSlide9.xml" Id="R07a9ddb09a494c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1e2bee2ee94bc8" /><Relationship Type="http://schemas.openxmlformats.org/officeDocument/2006/relationships/notesSlide" Target="/ppt/notesSlides/notesSlide10.xml" Id="Rdb1db4aba1ce48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f0792b0796423b" /><Relationship Type="http://schemas.openxmlformats.org/officeDocument/2006/relationships/notesSlide" Target="/ppt/notesSlides/notesSlide11.xml" Id="Rac3bdedd27984d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0e00bf8d2b4217" /><Relationship Type="http://schemas.openxmlformats.org/officeDocument/2006/relationships/notesSlide" Target="/ppt/notesSlides/notesSlide12.xml" Id="Ra87235ad6b1841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a447cc17865485a" /><Relationship Type="http://schemas.openxmlformats.org/officeDocument/2006/relationships/notesSlide" Target="/ppt/notesSlides/notesSlide13.xml" Id="Rf94e06807bd548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5f5cef1e064faf" /><Relationship Type="http://schemas.openxmlformats.org/officeDocument/2006/relationships/notesSlide" Target="/ppt/notesSlides/notesSlide14.xml" Id="R238eee7be77347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0e995cf24e4545" /><Relationship Type="http://schemas.openxmlformats.org/officeDocument/2006/relationships/notesSlide" Target="/ppt/notesSlides/notesSlide15.xml" Id="Rde6fb11f702a4a9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583D6B8-1998-466A-821E-5104B1F8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30125" y="1600200"/>
            <a:ext cx="4143375" cy="4143375"/>
          </a:xfrm>
          <a:custGeom xmlns:a="http://schemas.openxmlformats.org/drawingml/2006/main">
            <a:rect l="l" t="t" r="r" b="b"/>
            <a:pathLst>
              <a:path w="5524500" h="5524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5295900" y="0"/>
                </a:lnTo>
                <a:cubicBezTo>
                  <a:pt x="5422138" y="0"/>
                  <a:pt x="5524500" y="102362"/>
                  <a:pt x="5524500" y="228600"/>
                </a:cubicBezTo>
                <a:lnTo>
                  <a:pt x="5524500" y="5295900"/>
                </a:lnTo>
                <a:cubicBezTo>
                  <a:pt x="5524500" y="5422138"/>
                  <a:pt x="5422138" y="5524500"/>
                  <a:pt x="5295900" y="5524500"/>
                </a:cubicBezTo>
                <a:lnTo>
                  <a:pt x="228600" y="5524500"/>
                </a:lnTo>
                <a:cubicBezTo>
                  <a:pt x="102362" y="5524500"/>
                  <a:pt x="0" y="5422138"/>
                  <a:pt x="0" y="529590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f21502c1bcc4088"/>
            <a:stretch>
              <a:fillRect l="-89565" t="-24434" r="-126221" b="-53195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344CCCB-DA79-4C5A-870D-6662AF69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12445"/>
            <a:ext cx="7818120" cy="327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PROJETO ABERTO · ROBÓTICA MÓVEL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19AC726-8A46-4D5C-B2A4-E209E1E8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360295"/>
            <a:ext cx="3406457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990"/>
              </a:lnSpc>
              <a:buNone/>
            </a:pPr>
            <a:r>
              <a:rPr sz="83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Onigiri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BC8F269-5602-4937-A2DF-E82E9435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3803333"/>
            <a:ext cx="10104120" cy="1645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480"/>
              </a:lnSpc>
              <a:buNone/>
            </a:pPr>
            <a:r>
              <a:rPr sz="54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do protótipo móvel à</a:t>
            </a:r>
          </a:p>
          <a:p xmlns:a="http://schemas.openxmlformats.org/drawingml/2006/main">
            <a:pPr algn="l">
              <a:lnSpc>
                <a:spcPts val="6480"/>
              </a:lnSpc>
              <a:buNone/>
            </a:pPr>
            <a:r>
              <a:rPr sz="54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autonomia reativa com ROS 2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FB88C48-E521-46B0-94AB-046119E3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6741795"/>
            <a:ext cx="981837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>
                <a:solidFill>
                  <a:srgbClr val="686868"/>
                </a:solidFill>
                <a:latin typeface="Arial"/>
                <a:ea typeface="Arial"/>
                <a:cs typeface="Arial"/>
              </a:rPr>
              <a:t>Uma plataforma aberta para orientação em espaços internos — em desenvolvimento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D2463DAF-A4F5-43E7-AD4E-59DED2FD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21590" y="6322695"/>
            <a:ext cx="3560445" cy="403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430"/>
              </a:lnSpc>
              <a:buNone/>
            </a:pPr>
            <a:r>
              <a:rPr sz="202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LATINOWARE 2026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4353FB7F-088A-4874-8E41-C37114CD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313545"/>
            <a:ext cx="4103370" cy="28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>
                <a:solidFill>
                  <a:srgbClr val="686868"/>
                </a:solidFill>
                <a:latin typeface="Arial"/>
                <a:ea typeface="Arial"/>
                <a:cs typeface="Arial"/>
              </a:rPr>
              <a:t>Alex</a:t>
            </a:r>
          </a:p>
        </p:txBody>
      </p:sp>
    </p:spTree>
    <p:extLst>
      <p:ext uri="{BB962C8B-B14F-4D97-AF65-F5344CB8AC3E}">
        <p14:creationId xmlns:p14="http://schemas.microsoft.com/office/powerpoint/2010/main" val="16990466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D033286-3168-4A03-8966-C1229DA2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55349B9-EF0C-4DDF-925F-C0D8EA8E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870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Encontrar um lugar ainda pode ser difícil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CB3F4D5-3A93-44AB-8DBE-CC7C69D0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0F3BE3C-6A90-4109-AF27-F79127E5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1433EDD-062A-40C8-9668-93DFA666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555558"/>
            <a:ext cx="15961995" cy="9991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Em escolas, empresas e eventos, o visitante precisa transformar placas, mapas e instruções em uma rota.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DFD10A57-A794-4E0F-B65A-020D52DD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4286250"/>
            <a:ext cx="4714875" cy="71438"/>
          </a:xfrm>
          <a:custGeom xmlns:a="http://schemas.openxmlformats.org/drawingml/2006/main">
            <a:rect l="l" t="t" r="r" b="b"/>
            <a:pathLst>
              <a:path w="6286500" h="95250">
                <a:moveTo>
                  <a:pt x="0" y="0"/>
                </a:moveTo>
                <a:lnTo>
                  <a:pt x="6286500" y="0"/>
                </a:lnTo>
                <a:lnTo>
                  <a:pt x="62865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9C8E73E-92C8-45E4-9966-CE63A96C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684395"/>
            <a:ext cx="4531995" cy="470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Informação dispersa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22D6ED1-B1A8-4868-BFDA-CCC38DF0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455920"/>
            <a:ext cx="4531995" cy="17135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Placas, mapas impressos e orientações verbais nem sempre se conectam.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E9683F5C-C9A9-442D-92D8-5C4877F8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7925" y="4286250"/>
            <a:ext cx="4714875" cy="71438"/>
          </a:xfrm>
          <a:custGeom xmlns:a="http://schemas.openxmlformats.org/drawingml/2006/main">
            <a:rect l="l" t="t" r="r" b="b"/>
            <a:pathLst>
              <a:path w="6286500" h="95250">
                <a:moveTo>
                  <a:pt x="0" y="0"/>
                </a:moveTo>
                <a:lnTo>
                  <a:pt x="6286500" y="0"/>
                </a:lnTo>
                <a:lnTo>
                  <a:pt x="62865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73A0AB5-A304-4A25-8662-DD503C87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9365" y="4684395"/>
            <a:ext cx="4531995" cy="470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Ambiente desconhecido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F9DDA5C6-91D9-46BC-A1E7-EAAFFF51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9365" y="5455920"/>
            <a:ext cx="4531995" cy="17135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Corredores, salas e estandes mudam — especialmente em eventos.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8F406EBA-6E6E-4205-8540-2ED992BD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4286250"/>
            <a:ext cx="4714875" cy="71438"/>
          </a:xfrm>
          <a:custGeom xmlns:a="http://schemas.openxmlformats.org/drawingml/2006/main">
            <a:rect l="l" t="t" r="r" b="b"/>
            <a:pathLst>
              <a:path w="6286500" h="95250">
                <a:moveTo>
                  <a:pt x="0" y="0"/>
                </a:moveTo>
                <a:lnTo>
                  <a:pt x="6286500" y="0"/>
                </a:lnTo>
                <a:lnTo>
                  <a:pt x="62865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3227FD32-9685-4C23-B2B3-3F0C55A9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7215" y="4684395"/>
            <a:ext cx="4531995" cy="470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Acesso desigual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6BCEE1C-9529-45AC-A8ED-CA706BA8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7215" y="5455920"/>
            <a:ext cx="4531995" cy="17135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Idioma, visão, audição, mobilidade e familiaridade digital mudam a experiência.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CF038728-59C9-4DFE-923B-C63AE612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8427720"/>
            <a:ext cx="15819120" cy="613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E se o mapa pudesse vir até a pessoa?</a:t>
            </a:r>
          </a:p>
        </p:txBody>
      </p:sp>
    </p:spTree>
    <p:extLst>
      <p:ext uri="{BB962C8B-B14F-4D97-AF65-F5344CB8AC3E}">
        <p14:creationId xmlns:p14="http://schemas.microsoft.com/office/powerpoint/2010/main" val="19581328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C3B959D0-7A7B-45FA-9A9D-C6C8CEDD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63C87C36-061D-4538-9F6F-DE00C9F4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 jornada desejada do usuário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AC5CC60-624A-4410-847C-FBCEECA6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920CD4D-E94A-4753-A4E1-0FD0036A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38F98D3-6649-4D03-AE59-33288A85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2628900"/>
            <a:ext cx="17087850" cy="1885950"/>
          </a:xfrm>
          <a:custGeom xmlns:a="http://schemas.openxmlformats.org/drawingml/2006/main">
            <a:rect l="l" t="t" r="r" b="b"/>
            <a:pathLst>
              <a:path w="22783800" h="25146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22555200" y="0"/>
                </a:lnTo>
                <a:cubicBezTo>
                  <a:pt x="22681437" y="0"/>
                  <a:pt x="22783800" y="102362"/>
                  <a:pt x="22783800" y="228600"/>
                </a:cubicBezTo>
                <a:lnTo>
                  <a:pt x="22783800" y="2286000"/>
                </a:lnTo>
                <a:cubicBezTo>
                  <a:pt x="22783800" y="2412238"/>
                  <a:pt x="22681437" y="2514600"/>
                  <a:pt x="22555200" y="2514600"/>
                </a:cubicBezTo>
                <a:lnTo>
                  <a:pt x="228600" y="2514600"/>
                </a:lnTo>
                <a:cubicBezTo>
                  <a:pt x="102362" y="2514600"/>
                  <a:pt x="0" y="2412238"/>
                  <a:pt x="0" y="2286000"/>
                </a:cubicBezTo>
                <a:close/>
              </a:path>
            </a:pathLst>
          </a:custGeom>
          <a:solidFill xmlns:a="http://schemas.openxmlformats.org/drawingml/2006/main">
            <a:srgbClr val="14321D"/>
          </a:solid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4B298DB-B1F4-477E-860A-73BD57D6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290" y="3155633"/>
            <a:ext cx="15933420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130"/>
              </a:lnSpc>
              <a:buNone/>
            </a:pPr>
            <a:r>
              <a:rPr sz="42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“Onigiri, me leve ao escritório.”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4280C08-3CC8-4C74-A075-6D64CE22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241608"/>
            <a:ext cx="502920" cy="584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1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027CD5E-0C43-4564-950E-A66A398E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040" y="5284470"/>
            <a:ext cx="29603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Chamar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F155AFB1-14C0-453B-A3F1-3609CBAB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040" y="5894070"/>
            <a:ext cx="29603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voz ou interface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90F629CD-FDBA-4EA0-9E97-9652BF71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7765" y="5241608"/>
            <a:ext cx="502920" cy="584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2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4DB8864-F76D-4D47-8A81-6D12BC96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9290" y="5284470"/>
            <a:ext cx="29603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Conduzir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0660B262-AB76-44AA-B043-7B604A58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9290" y="5894070"/>
            <a:ext cx="29603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“Me siga, por favor.”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0B01579-67F9-4274-BF10-40BCCB1F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4015" y="5241608"/>
            <a:ext cx="502920" cy="584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3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47408C-07E7-4C9E-94D7-38352516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5540" y="5284470"/>
            <a:ext cx="29603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Chegar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A2A44AF-39AB-414D-8E30-E34F91F9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5540" y="5894070"/>
            <a:ext cx="29603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anunciar “Escritório”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8B1F35A-A1D1-4DF9-9031-E7685F90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50265" y="5241608"/>
            <a:ext cx="502920" cy="584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4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F03331AA-BA84-4157-87C9-D82E9503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1790" y="5284470"/>
            <a:ext cx="29603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Retornar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9367A725-B244-42C7-9E5E-9319E2D4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1790" y="5894070"/>
            <a:ext cx="29603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15 s sem interação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600F2253-FD45-4D54-80B9-A9E803CD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7172325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D8E08744-FECD-438A-8331-79E44DB2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741920"/>
            <a:ext cx="15533370" cy="479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 Onigiri deve sair de casa, levar a pessoa ao destino e voltar com segurança.</a:t>
            </a:r>
          </a:p>
        </p:txBody>
      </p:sp>
    </p:spTree>
    <p:extLst>
      <p:ext uri="{BB962C8B-B14F-4D97-AF65-F5344CB8AC3E}">
        <p14:creationId xmlns:p14="http://schemas.microsoft.com/office/powerpoint/2010/main" val="8713475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CC5B893-F26B-445F-ABCD-472E9B25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FD5AF65-4E03-42B3-B7C2-20ABC2DA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2628900"/>
            <a:ext cx="6858000" cy="5972175"/>
          </a:xfrm>
          <a:custGeom xmlns:a="http://schemas.openxmlformats.org/drawingml/2006/main">
            <a:rect l="l" t="t" r="r" b="b"/>
            <a:pathLst>
              <a:path w="9144000" h="79629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915400" y="0"/>
                </a:lnTo>
                <a:cubicBezTo>
                  <a:pt x="9041638" y="0"/>
                  <a:pt x="9144000" y="102362"/>
                  <a:pt x="9144000" y="228600"/>
                </a:cubicBezTo>
                <a:lnTo>
                  <a:pt x="9144000" y="7734300"/>
                </a:lnTo>
                <a:cubicBezTo>
                  <a:pt x="9144000" y="7860538"/>
                  <a:pt x="9041638" y="7962900"/>
                  <a:pt x="8915400" y="7962900"/>
                </a:cubicBezTo>
                <a:lnTo>
                  <a:pt x="228600" y="7962900"/>
                </a:lnTo>
                <a:cubicBezTo>
                  <a:pt x="102362" y="7962900"/>
                  <a:pt x="0" y="7860538"/>
                  <a:pt x="0" y="7734300"/>
                </a:cubicBez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b75643b932344a8"/>
            <a:stretch>
              <a:fillRect l="-33750" t="-1131" r="-57037" b="-22105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E6C3237-845B-45AE-A48B-E125FCFB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A6FB1DA3-BA29-448E-85D9-794493B0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870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 forma também é parte da engenharia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BB5B92D6-5E54-44E3-998F-A71A2464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9316E06-E8DD-48F2-BADD-66D822B4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915" y="2827020"/>
            <a:ext cx="8246745" cy="15944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185"/>
              </a:lnSpc>
              <a:buNone/>
            </a:pPr>
            <a:r>
              <a:rPr sz="3487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Três pontos de tração, três motores e uma plataforma pronta para movimentos laterais e giros.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34BE4AC-D8CA-46C5-88FF-0DB8CA09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915" y="4465320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55CEBDDD-1665-4804-9966-A3F510E4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1115" y="4465320"/>
            <a:ext cx="7360920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Chassi triangular em evolução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37A0D2E3-084D-4D8D-8FAD-802E1883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915" y="5394007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7318342D-F032-4940-B451-5E556CA2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1115" y="5394007"/>
            <a:ext cx="7360920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M1 dianteiro esquerdo · M2 dianteiro direito · M3 traseiro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34A01A6-55CA-4D94-90A9-3E3ED68F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915" y="6322695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6DED4E-DE72-4A18-866D-6409BB22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1115" y="6322695"/>
            <a:ext cx="7360920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Arquivos mecânicos modificáveis (STEP)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6C9AA1BA-5E04-4B10-AAF7-8EF93BA9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915" y="7251382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0650B4D-C828-428E-9F12-CF1396FF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1115" y="7251382"/>
            <a:ext cx="7360920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Plataforma modular para testar, documentar e melhorar</a:t>
            </a:r>
          </a:p>
        </p:txBody>
      </p:sp>
    </p:spTree>
    <p:extLst>
      <p:ext uri="{BB962C8B-B14F-4D97-AF65-F5344CB8AC3E}">
        <p14:creationId xmlns:p14="http://schemas.microsoft.com/office/powerpoint/2010/main" val="7962011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C8F97097-8198-4423-AB36-611C1E3A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892E7B19-9319-4E9B-9EA7-9A91054D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144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Aberto é registrar o que funciona — e o que ainda está sendo aprendido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449E805-F8B7-4935-A51D-D6AA7836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EEE54C6-23FD-4F8F-ABFC-A53E3B44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5F5C4B1-3C74-4C36-B20D-038441C7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526983"/>
            <a:ext cx="15961995" cy="479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O Onigiri reúne código, instruções de montagem e decisões técnicas em um repositório público.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77BEE241-D55E-4A3D-8637-193980CD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388429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01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5B8FBCB-41BF-4FB9-8E83-0F335AFF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502" y="3884295"/>
            <a:ext cx="2746058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Mecânica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6C7DFA3B-52BA-432D-B20C-1C3B8FA0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3893820"/>
            <a:ext cx="1181862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STEP, impressão 3D e ajustes de montagem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5546E9E-F4D3-45C0-BD0B-BC73F61C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" y="4614862"/>
            <a:ext cx="15144750" cy="14288"/>
          </a:xfrm>
          <a:custGeom xmlns:a="http://schemas.openxmlformats.org/drawingml/2006/main">
            <a:rect l="l" t="t" r="r" b="b"/>
            <a:pathLst>
              <a:path w="20193000" h="19050">
                <a:moveTo>
                  <a:pt x="0" y="0"/>
                </a:moveTo>
                <a:lnTo>
                  <a:pt x="20193000" y="0"/>
                </a:lnTo>
                <a:lnTo>
                  <a:pt x="20193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2BB813C6-D8FF-4ECE-8DC6-3309F0C1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02729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02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5DDE3240-4D3E-4C67-9DE3-3DC97B01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502" y="5027295"/>
            <a:ext cx="2746058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Eletrônica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E30B8A15-D7DC-4B8A-8F22-95C3484F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5036820"/>
            <a:ext cx="1181862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alimentação, HAT de motores e lista de componentes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374B911D-E00C-4BD1-BA44-9463746A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" y="5757862"/>
            <a:ext cx="15144750" cy="14288"/>
          </a:xfrm>
          <a:custGeom xmlns:a="http://schemas.openxmlformats.org/drawingml/2006/main">
            <a:rect l="l" t="t" r="r" b="b"/>
            <a:pathLst>
              <a:path w="20193000" h="19050">
                <a:moveTo>
                  <a:pt x="0" y="0"/>
                </a:moveTo>
                <a:lnTo>
                  <a:pt x="20193000" y="0"/>
                </a:lnTo>
                <a:lnTo>
                  <a:pt x="20193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67D29BD6-A1DD-4C56-A9F7-B69571F7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617029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03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6D71436-6754-4AC3-A3A3-2C9CE812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502" y="6170295"/>
            <a:ext cx="2746058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Software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F17FF659-75F4-4C7A-96E9-218B797D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6179820"/>
            <a:ext cx="1181862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ROS 2, controle, LiDAR e inicialização automática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86F0795-11C8-4E62-8790-E591F640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" y="6900862"/>
            <a:ext cx="15144750" cy="14288"/>
          </a:xfrm>
          <a:custGeom xmlns:a="http://schemas.openxmlformats.org/drawingml/2006/main">
            <a:rect l="l" t="t" r="r" b="b"/>
            <a:pathLst>
              <a:path w="20193000" h="19050">
                <a:moveTo>
                  <a:pt x="0" y="0"/>
                </a:moveTo>
                <a:lnTo>
                  <a:pt x="20193000" y="0"/>
                </a:lnTo>
                <a:lnTo>
                  <a:pt x="20193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F27BB914-6A67-459D-B209-2F633C23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31329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04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9E1F8B14-C4E6-494F-BAD1-EEC89A93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4502" y="7313295"/>
            <a:ext cx="2746058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Conhecimento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603DDE5A-7036-44FD-979E-5CF6F82D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9190" y="7322820"/>
            <a:ext cx="1181862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manual de construção, testes e limitações conhecidas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DE147646-32DF-4796-A456-19336402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" y="8043862"/>
            <a:ext cx="15144750" cy="14288"/>
          </a:xfrm>
          <a:custGeom xmlns:a="http://schemas.openxmlformats.org/drawingml/2006/main">
            <a:rect l="l" t="t" r="r" b="b"/>
            <a:pathLst>
              <a:path w="20193000" h="19050">
                <a:moveTo>
                  <a:pt x="0" y="0"/>
                </a:moveTo>
                <a:lnTo>
                  <a:pt x="20193000" y="0"/>
                </a:lnTo>
                <a:lnTo>
                  <a:pt x="20193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ED9EE5B7-FD42-476F-BC75-8104DF8A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8884920"/>
            <a:ext cx="15533370" cy="462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44"/>
              </a:lnSpc>
              <a:buNone/>
            </a:pPr>
            <a:r>
              <a:rPr sz="30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Documentar a evolução torna o projeto reproduzível e melhorável.</a:t>
            </a:r>
          </a:p>
        </p:txBody>
      </p:sp>
    </p:spTree>
    <p:extLst>
      <p:ext uri="{BB962C8B-B14F-4D97-AF65-F5344CB8AC3E}">
        <p14:creationId xmlns:p14="http://schemas.microsoft.com/office/powerpoint/2010/main" val="2983777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48443710-71C6-4A31-833F-82BFB549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6B0C3AA-EC13-4E42-9C52-F9226FDF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8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As camadas que já estão integradas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0A989C3-D71D-45AA-8019-81F9F121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CF5C0657-095B-4DE6-890A-2BC34E5A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922C148-19B2-4380-A657-10F500BA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2643188"/>
            <a:ext cx="14001750" cy="942975"/>
          </a:xfrm>
          <a:custGeom xmlns:a="http://schemas.openxmlformats.org/drawingml/2006/main">
            <a:rect l="l" t="t" r="r" b="b"/>
            <a:pathLst>
              <a:path w="18669000" h="1257300">
                <a:moveTo>
                  <a:pt x="0" y="0"/>
                </a:moveTo>
                <a:lnTo>
                  <a:pt x="18669000" y="0"/>
                </a:lnTo>
                <a:lnTo>
                  <a:pt x="1866900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8BEFF8F9-77E7-4DBF-AD02-7C6DED64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7465" y="2907983"/>
            <a:ext cx="4246245" cy="3181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INTERAÇÃO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86B3BB0A-67D8-4AEF-96B7-F15E5BB7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590" y="2898458"/>
            <a:ext cx="8675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Logitech F710 via PC e rede</a:t>
            </a:r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FED9378-92F1-4C11-86E0-3C69192E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3914775"/>
            <a:ext cx="14001750" cy="942975"/>
          </a:xfrm>
          <a:custGeom xmlns:a="http://schemas.openxmlformats.org/drawingml/2006/main">
            <a:rect l="l" t="t" r="r" b="b"/>
            <a:pathLst>
              <a:path w="18669000" h="1257300">
                <a:moveTo>
                  <a:pt x="0" y="0"/>
                </a:moveTo>
                <a:lnTo>
                  <a:pt x="18669000" y="0"/>
                </a:lnTo>
                <a:lnTo>
                  <a:pt x="1866900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DDF1DD"/>
          </a:soli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0D95532F-56DB-4B49-B4EF-1200B9A9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7465" y="4179570"/>
            <a:ext cx="4246245" cy="325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DECISÃO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27B5E924-CE9B-48F9-8ED1-5FC93B24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590" y="4170045"/>
            <a:ext cx="8675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teleoperação + autonomia reativa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957FA88-93FA-4455-9A78-73EC9C32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5186362"/>
            <a:ext cx="14001750" cy="942975"/>
          </a:xfrm>
          <a:custGeom xmlns:a="http://schemas.openxmlformats.org/drawingml/2006/main">
            <a:rect l="l" t="t" r="r" b="b"/>
            <a:pathLst>
              <a:path w="18669000" h="1257300">
                <a:moveTo>
                  <a:pt x="0" y="0"/>
                </a:moveTo>
                <a:lnTo>
                  <a:pt x="18669000" y="0"/>
                </a:lnTo>
                <a:lnTo>
                  <a:pt x="1866900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E8F5E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7A4062E-EA6A-435F-AAC3-83F5E567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7465" y="5451157"/>
            <a:ext cx="4246245" cy="3181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COMPUTAÇÃO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40E49405-F29F-45AF-B826-5793A30F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590" y="5441632"/>
            <a:ext cx="8675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Raspberry Pi 4 · Ubuntu 24.04 · ROS 2 Jazzy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2A7EC7F1-B92C-4A50-BEDF-95552D3D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6457950"/>
            <a:ext cx="14001750" cy="942975"/>
          </a:xfrm>
          <a:custGeom xmlns:a="http://schemas.openxmlformats.org/drawingml/2006/main">
            <a:rect l="l" t="t" r="r" b="b"/>
            <a:pathLst>
              <a:path w="18669000" h="1257300">
                <a:moveTo>
                  <a:pt x="0" y="0"/>
                </a:moveTo>
                <a:lnTo>
                  <a:pt x="18669000" y="0"/>
                </a:lnTo>
                <a:lnTo>
                  <a:pt x="1866900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446B7BC5-524F-4FEB-A1B5-8C4393A0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7465" y="6722745"/>
            <a:ext cx="4246245" cy="3181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PERCEPÇÃO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C6E61C9-B817-45B1-BDA1-E4C07D9B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590" y="6713220"/>
            <a:ext cx="8675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RPLIDAR A1M8 · varredura 2D em 360°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C301BC51-C39A-4E9F-9AEC-408B8C87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3125" y="7729538"/>
            <a:ext cx="14001750" cy="942975"/>
          </a:xfrm>
          <a:custGeom xmlns:a="http://schemas.openxmlformats.org/drawingml/2006/main">
            <a:rect l="l" t="t" r="r" b="b"/>
            <a:pathLst>
              <a:path w="18669000" h="1257300">
                <a:moveTo>
                  <a:pt x="0" y="0"/>
                </a:moveTo>
                <a:lnTo>
                  <a:pt x="18669000" y="0"/>
                </a:lnTo>
                <a:lnTo>
                  <a:pt x="18669000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E2E3E1"/>
          </a:solid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AB8F42C6-6FCD-430A-8CC4-1BD896CE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7465" y="7994332"/>
            <a:ext cx="4246245" cy="325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MOVIMENTO E SEGURANÇA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F3EC523F-ECF3-4180-B8EC-A03FD22E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6590" y="7984807"/>
            <a:ext cx="86753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3 motores DC · Motor HAT · LiPo 3S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9D754A9D-B369-44BB-86D5-0B354F90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4565" y="9037320"/>
            <a:ext cx="13818870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 integração já funciona; mapa, localização e voz entram como próximas etapas.</a:t>
            </a:r>
          </a:p>
        </p:txBody>
      </p:sp>
    </p:spTree>
    <p:extLst>
      <p:ext uri="{BB962C8B-B14F-4D97-AF65-F5344CB8AC3E}">
        <p14:creationId xmlns:p14="http://schemas.microsoft.com/office/powerpoint/2010/main" val="3445325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7F178E5B-2BBA-47DE-91CB-3A150AAB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8EB7A47-55C1-48B7-9ABD-E10A83C7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Hardware acessível, já testado no protótipo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4E9342E-935E-4D11-8DC7-BF86C967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EE1592C-74BF-4054-9E21-25A1DA9E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A88149F6-D081-40B0-A479-99BEF401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2714625"/>
            <a:ext cx="800100" cy="428625"/>
          </a:xfrm>
          <a:custGeom xmlns:a="http://schemas.openxmlformats.org/drawingml/2006/main">
            <a:rect l="l" t="t" r="r" b="b"/>
            <a:pathLst>
              <a:path w="1066800" h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38200" y="0"/>
                </a:lnTo>
                <a:cubicBezTo>
                  <a:pt x="964438" y="0"/>
                  <a:pt x="1066800" y="102362"/>
                  <a:pt x="1066800" y="228600"/>
                </a:cubicBezTo>
                <a:lnTo>
                  <a:pt x="1066800" y="342900"/>
                </a:lnTo>
                <a:cubicBezTo>
                  <a:pt x="1066800" y="469138"/>
                  <a:pt x="964438" y="571500"/>
                  <a:pt x="838200" y="571500"/>
                </a:cubicBezTo>
                <a:lnTo>
                  <a:pt x="228600" y="571500"/>
                </a:lnTo>
                <a:cubicBezTo>
                  <a:pt x="102362" y="571500"/>
                  <a:pt x="0" y="469138"/>
                  <a:pt x="0" y="342900"/>
                </a:cubicBez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00358EA-D715-458C-A2EB-87FD714E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793683"/>
            <a:ext cx="617220" cy="246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01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75F15478-0EDC-47B0-939D-27C09CFC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3484245"/>
            <a:ext cx="3388995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Computação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A92F6FD2-F385-4FA0-9327-7CB2A8FB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236720"/>
            <a:ext cx="3388995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Raspberry Pi 4 · Ubuntu 24.04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90F61518-6037-4193-B08D-EC50FE02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179695"/>
            <a:ext cx="3388995" cy="325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ROS 2 Jazzy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844D78B-5C2A-4724-A17A-02067C7B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6286500"/>
            <a:ext cx="3571875" cy="57150"/>
          </a:xfrm>
          <a:custGeom xmlns:a="http://schemas.openxmlformats.org/drawingml/2006/main">
            <a:rect l="l" t="t" r="r" b="b"/>
            <a:pathLst>
              <a:path w="4762500" h="76200">
                <a:moveTo>
                  <a:pt x="0" y="0"/>
                </a:moveTo>
                <a:lnTo>
                  <a:pt x="4762500" y="0"/>
                </a:lnTo>
                <a:lnTo>
                  <a:pt x="4762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586A2BC-8F67-4CCA-BC61-A11C2CDD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4888" y="2714625"/>
            <a:ext cx="800100" cy="428625"/>
          </a:xfrm>
          <a:custGeom xmlns:a="http://schemas.openxmlformats.org/drawingml/2006/main">
            <a:rect l="l" t="t" r="r" b="b"/>
            <a:pathLst>
              <a:path w="1066800" h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38200" y="0"/>
                </a:lnTo>
                <a:cubicBezTo>
                  <a:pt x="964438" y="0"/>
                  <a:pt x="1066800" y="102362"/>
                  <a:pt x="1066800" y="228600"/>
                </a:cubicBezTo>
                <a:lnTo>
                  <a:pt x="1066800" y="342900"/>
                </a:lnTo>
                <a:cubicBezTo>
                  <a:pt x="1066800" y="469138"/>
                  <a:pt x="964438" y="571500"/>
                  <a:pt x="838200" y="571500"/>
                </a:cubicBezTo>
                <a:lnTo>
                  <a:pt x="228600" y="571500"/>
                </a:lnTo>
                <a:cubicBezTo>
                  <a:pt x="102362" y="571500"/>
                  <a:pt x="0" y="469138"/>
                  <a:pt x="0" y="342900"/>
                </a:cubicBez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08C5DD8-2DA6-4B52-B948-4DCC8668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6328" y="2793683"/>
            <a:ext cx="617220" cy="246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02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9CDE29AA-9F49-4B07-8197-1FD182C8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6328" y="3484245"/>
            <a:ext cx="3388995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Movimento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4CA608B-E31E-4723-9B4B-01E0E749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6328" y="4236720"/>
            <a:ext cx="3388995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Motor HAT 5–12 V · 1,2 A/canal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46CA56CD-B351-4F5C-8EB5-955236ED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6328" y="5179695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3 motores DC JGY370 · 12 V · 40 rpm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6CC3ADD4-AED4-4916-8BE5-9F7103B0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4888" y="6286500"/>
            <a:ext cx="3571875" cy="57150"/>
          </a:xfrm>
          <a:custGeom xmlns:a="http://schemas.openxmlformats.org/drawingml/2006/main">
            <a:rect l="l" t="t" r="r" b="b"/>
            <a:pathLst>
              <a:path w="4762500" h="76200">
                <a:moveTo>
                  <a:pt x="0" y="0"/>
                </a:moveTo>
                <a:lnTo>
                  <a:pt x="4762500" y="0"/>
                </a:lnTo>
                <a:lnTo>
                  <a:pt x="4762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6D9CE8EF-7B07-4874-A721-982FF92C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9700" y="2714625"/>
            <a:ext cx="800100" cy="428625"/>
          </a:xfrm>
          <a:custGeom xmlns:a="http://schemas.openxmlformats.org/drawingml/2006/main">
            <a:rect l="l" t="t" r="r" b="b"/>
            <a:pathLst>
              <a:path w="1066800" h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38200" y="0"/>
                </a:lnTo>
                <a:cubicBezTo>
                  <a:pt x="964438" y="0"/>
                  <a:pt x="1066800" y="102362"/>
                  <a:pt x="1066800" y="228600"/>
                </a:cubicBezTo>
                <a:lnTo>
                  <a:pt x="1066800" y="342900"/>
                </a:lnTo>
                <a:cubicBezTo>
                  <a:pt x="1066800" y="469138"/>
                  <a:pt x="964438" y="571500"/>
                  <a:pt x="838200" y="571500"/>
                </a:cubicBezTo>
                <a:lnTo>
                  <a:pt x="228600" y="571500"/>
                </a:lnTo>
                <a:cubicBezTo>
                  <a:pt x="102362" y="571500"/>
                  <a:pt x="0" y="469138"/>
                  <a:pt x="0" y="342900"/>
                </a:cubicBez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7CC25C6A-714E-4DEF-9A12-3162071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2793683"/>
            <a:ext cx="617220" cy="246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03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EE38128D-3ECD-46E0-9924-514D889F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3484245"/>
            <a:ext cx="3388995" cy="413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Energia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275C0F2-DC1D-4DEE-A161-F88ED137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4236720"/>
            <a:ext cx="3388995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LiPo 3S · 11,1 V · 1150 mAh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5EF2219-7A2C-45AE-8162-010201E1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5179695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Tobsun EA75-5V para o Raspberry Pi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E1C75524-12D6-4FB5-97A7-E6FD9A27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9700" y="6286500"/>
            <a:ext cx="3571875" cy="57150"/>
          </a:xfrm>
          <a:custGeom xmlns:a="http://schemas.openxmlformats.org/drawingml/2006/main">
            <a:rect l="l" t="t" r="r" b="b"/>
            <a:pathLst>
              <a:path w="4762500" h="76200">
                <a:moveTo>
                  <a:pt x="0" y="0"/>
                </a:moveTo>
                <a:lnTo>
                  <a:pt x="4762500" y="0"/>
                </a:lnTo>
                <a:lnTo>
                  <a:pt x="4762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0952F47B-6461-43F7-B71D-B14C9A43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4512" y="2714625"/>
            <a:ext cx="800100" cy="428625"/>
          </a:xfrm>
          <a:custGeom xmlns:a="http://schemas.openxmlformats.org/drawingml/2006/main">
            <a:rect l="l" t="t" r="r" b="b"/>
            <a:pathLst>
              <a:path w="1066800" h="5715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38200" y="0"/>
                </a:lnTo>
                <a:cubicBezTo>
                  <a:pt x="964438" y="0"/>
                  <a:pt x="1066800" y="102362"/>
                  <a:pt x="1066800" y="228600"/>
                </a:cubicBezTo>
                <a:lnTo>
                  <a:pt x="1066800" y="342900"/>
                </a:lnTo>
                <a:cubicBezTo>
                  <a:pt x="1066800" y="469138"/>
                  <a:pt x="964438" y="571500"/>
                  <a:pt x="838200" y="571500"/>
                </a:cubicBezTo>
                <a:lnTo>
                  <a:pt x="228600" y="571500"/>
                </a:lnTo>
                <a:cubicBezTo>
                  <a:pt x="102362" y="571500"/>
                  <a:pt x="0" y="469138"/>
                  <a:pt x="0" y="342900"/>
                </a:cubicBez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702BCE99-2B46-426A-8A91-58B89998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952" y="2793683"/>
            <a:ext cx="617220" cy="246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04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F63D6D32-31ED-4805-A6CE-B60E3A6A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952" y="3484245"/>
            <a:ext cx="3388995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Segurança atual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28A00BDB-D50A-44A4-A9A1-F3BD9AC2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952" y="4236720"/>
            <a:ext cx="3388995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timeout de comando</a:t>
            </a:r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4BF1D5C9-23BE-4E98-A7CD-8FF84A76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952" y="5179695"/>
            <a:ext cx="3388995" cy="325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parada na perda do LiDAR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7596DA9-BC78-42CD-AFE0-4C0071C2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4512" y="6286500"/>
            <a:ext cx="3571875" cy="57150"/>
          </a:xfrm>
          <a:custGeom xmlns:a="http://schemas.openxmlformats.org/drawingml/2006/main">
            <a:rect l="l" t="t" r="r" b="b"/>
            <a:pathLst>
              <a:path w="4762500" h="76200">
                <a:moveTo>
                  <a:pt x="0" y="0"/>
                </a:moveTo>
                <a:lnTo>
                  <a:pt x="4762500" y="0"/>
                </a:lnTo>
                <a:lnTo>
                  <a:pt x="4762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F46A3728-8F55-486C-8F50-6AA1AB7B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7286625"/>
            <a:ext cx="16216312" cy="1328738"/>
          </a:xfrm>
          <a:custGeom xmlns:a="http://schemas.openxmlformats.org/drawingml/2006/main">
            <a:rect l="l" t="t" r="r" b="b"/>
            <a:pathLst>
              <a:path w="21621750" h="1771650">
                <a:moveTo>
                  <a:pt x="0" y="0"/>
                </a:moveTo>
                <a:lnTo>
                  <a:pt x="21621750" y="0"/>
                </a:lnTo>
                <a:lnTo>
                  <a:pt x="21621750" y="1771650"/>
                </a:lnTo>
                <a:lnTo>
                  <a:pt x="0" y="177165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5BF39E92-D56D-4940-AB29-21D75C0D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15" y="7622857"/>
            <a:ext cx="296037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Próxima integração</a:t>
            </a:r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AE0B4B2C-3FE6-433E-97C7-5B6016F9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3378" y="7579995"/>
            <a:ext cx="11961495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botão de emergência e corte físico dos motores.</a:t>
            </a:r>
          </a:p>
        </p:txBody>
      </p:sp>
    </p:spTree>
    <p:extLst>
      <p:ext uri="{BB962C8B-B14F-4D97-AF65-F5344CB8AC3E}">
        <p14:creationId xmlns:p14="http://schemas.microsoft.com/office/powerpoint/2010/main" val="19152801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06EFA2F9-D885-4916-8437-BA45340C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E38AAB8F-6231-4D2F-B543-B0D86293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Três motores: a base para o movimento omnidirecional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78E3A0F-1E68-4419-8C14-CCE7B7E6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426BED3-E64E-46DC-8443-D77AB39B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798FB5E-79AE-4BC0-AB86-0DC7B53B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2528888"/>
            <a:ext cx="7572375" cy="6200775"/>
          </a:xfrm>
          <a:custGeom xmlns:a="http://schemas.openxmlformats.org/drawingml/2006/main">
            <a:rect l="l" t="t" r="r" b="b"/>
            <a:pathLst>
              <a:path w="10096500" h="8267700">
                <a:moveTo>
                  <a:pt x="0" y="0"/>
                </a:moveTo>
                <a:lnTo>
                  <a:pt x="10096500" y="0"/>
                </a:lnTo>
                <a:lnTo>
                  <a:pt x="10096500" y="8267700"/>
                </a:lnTo>
                <a:lnTo>
                  <a:pt x="0" y="826770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57981A40-AC7E-49C6-ACCE-E26BAC82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7425" y="3543300"/>
            <a:ext cx="4200525" cy="3629025"/>
          </a:xfrm>
          <a:custGeom xmlns:a="http://schemas.openxmlformats.org/drawingml/2006/main">
            <a:rect l="l" t="t" r="r" b="b"/>
            <a:pathLst>
              <a:path w="5600700" h="4838700">
                <a:moveTo>
                  <a:pt x="0" y="4838700"/>
                </a:moveTo>
                <a:lnTo>
                  <a:pt x="2800350" y="0"/>
                </a:lnTo>
                <a:lnTo>
                  <a:pt x="5600700" y="48387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57150" cap="sq">
            <a:solidFill>
              <a:srgbClr val="14321D"/>
            </a:solidFill>
            <a:prstDash val="solid"/>
            <a:miter/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F42C5BBB-0F3D-47D4-864F-DC11900B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1938" y="3057525"/>
            <a:ext cx="828675" cy="542925"/>
          </a:xfrm>
          <a:custGeom xmlns:a="http://schemas.openxmlformats.org/drawingml/2006/main">
            <a:rect l="l" t="t" r="r" b="b"/>
            <a:pathLst>
              <a:path w="1104900" h="7239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76300" y="0"/>
                </a:lnTo>
                <a:cubicBezTo>
                  <a:pt x="1002538" y="0"/>
                  <a:pt x="1104900" y="102362"/>
                  <a:pt x="1104900" y="228600"/>
                </a:cubicBezTo>
                <a:lnTo>
                  <a:pt x="1104900" y="495300"/>
                </a:lnTo>
                <a:cubicBezTo>
                  <a:pt x="1104900" y="621538"/>
                  <a:pt x="1002538" y="723900"/>
                  <a:pt x="876300" y="723900"/>
                </a:cubicBezTo>
                <a:lnTo>
                  <a:pt x="228600" y="723900"/>
                </a:lnTo>
                <a:cubicBezTo>
                  <a:pt x="102362" y="723900"/>
                  <a:pt x="0" y="621538"/>
                  <a:pt x="0" y="495300"/>
                </a:cubicBez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AAA7BA7E-179E-4EBE-A859-64B66759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3378" y="3198495"/>
            <a:ext cx="645795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M1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38EB8A1-74C4-42D5-AC5C-4613F35E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0238" y="6772275"/>
            <a:ext cx="828675" cy="542925"/>
          </a:xfrm>
          <a:custGeom xmlns:a="http://schemas.openxmlformats.org/drawingml/2006/main">
            <a:rect l="l" t="t" r="r" b="b"/>
            <a:pathLst>
              <a:path w="1104900" h="7239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76300" y="0"/>
                </a:lnTo>
                <a:cubicBezTo>
                  <a:pt x="1002538" y="0"/>
                  <a:pt x="1104900" y="102362"/>
                  <a:pt x="1104900" y="228600"/>
                </a:cubicBezTo>
                <a:lnTo>
                  <a:pt x="1104900" y="495300"/>
                </a:lnTo>
                <a:cubicBezTo>
                  <a:pt x="1104900" y="621538"/>
                  <a:pt x="1002538" y="723900"/>
                  <a:pt x="876300" y="723900"/>
                </a:cubicBezTo>
                <a:lnTo>
                  <a:pt x="228600" y="723900"/>
                </a:lnTo>
                <a:cubicBezTo>
                  <a:pt x="102362" y="723900"/>
                  <a:pt x="0" y="621538"/>
                  <a:pt x="0" y="495300"/>
                </a:cubicBez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DC6BCC4-2384-4BAD-AEDD-6BBB3FE7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1677" y="6913245"/>
            <a:ext cx="645795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M2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A3C6E210-09EB-4E36-AADF-7A218190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43638" y="6772275"/>
            <a:ext cx="828675" cy="542925"/>
          </a:xfrm>
          <a:custGeom xmlns:a="http://schemas.openxmlformats.org/drawingml/2006/main">
            <a:rect l="l" t="t" r="r" b="b"/>
            <a:pathLst>
              <a:path w="1104900" h="7239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876300" y="0"/>
                </a:lnTo>
                <a:cubicBezTo>
                  <a:pt x="1002538" y="0"/>
                  <a:pt x="1104900" y="102362"/>
                  <a:pt x="1104900" y="228600"/>
                </a:cubicBezTo>
                <a:lnTo>
                  <a:pt x="1104900" y="495300"/>
                </a:lnTo>
                <a:cubicBezTo>
                  <a:pt x="1104900" y="621538"/>
                  <a:pt x="1002538" y="723900"/>
                  <a:pt x="876300" y="723900"/>
                </a:cubicBezTo>
                <a:lnTo>
                  <a:pt x="228600" y="723900"/>
                </a:lnTo>
                <a:cubicBezTo>
                  <a:pt x="102362" y="723900"/>
                  <a:pt x="0" y="621538"/>
                  <a:pt x="0" y="495300"/>
                </a:cubicBez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CF5B24C-BD90-4A14-AB95-4F20DE09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5078" y="6913245"/>
            <a:ext cx="645795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M3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C39C051-B880-4B17-88AC-103892A4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9065" y="5741670"/>
            <a:ext cx="960120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700"/>
              </a:lnSpc>
              <a:buNone/>
            </a:pPr>
            <a:r>
              <a:rPr sz="2250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120°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4168032D-61FF-4BC2-BAF9-BA5AFCF6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2688908"/>
            <a:ext cx="7818120" cy="4972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915"/>
              </a:lnSpc>
              <a:buNone/>
            </a:pPr>
            <a:r>
              <a:rPr sz="326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Movimentos já validados no protótipo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ECC17C18-D083-427E-ABEF-B08FCFA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4322445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825AF581-1A17-49FC-B37C-62418A2E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765" y="4322445"/>
            <a:ext cx="6503670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avançar e recuar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30DE7186-6F57-4412-A96F-E80E3FC6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5179695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3FD2D401-117C-4A26-BEAE-740E707C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765" y="5179695"/>
            <a:ext cx="6503670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deslocar lateralmente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0180303-0FEB-4954-9E94-1758F8BC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6036945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80984F2F-3F5F-4667-B009-BFB36A6C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765" y="6036945"/>
            <a:ext cx="6503670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girar sobre o próprio eixo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2C59981-39E9-496D-9C52-25FA65F4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6894195"/>
            <a:ext cx="160020" cy="432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4D95CEF-B1BF-4F0A-85B6-2605529C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765" y="6894195"/>
            <a:ext cx="6503670" cy="6324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111111"/>
                </a:solidFill>
                <a:latin typeface="Arial"/>
                <a:ea typeface="Arial"/>
                <a:cs typeface="Arial"/>
              </a:rPr>
              <a:t>combinar movimentos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FECBDB01-38E8-4659-A9AE-077721B5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8108632"/>
            <a:ext cx="7532370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M1: dianteiro esquerdo · M2: dianteiro direito · M3: traseiro.</a:t>
            </a:r>
          </a:p>
        </p:txBody>
      </p:sp>
    </p:spTree>
    <p:extLst>
      <p:ext uri="{BB962C8B-B14F-4D97-AF65-F5344CB8AC3E}">
        <p14:creationId xmlns:p14="http://schemas.microsoft.com/office/powerpoint/2010/main" val="1518056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863A1454-EB4C-48AE-B26F-31513A81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2A0CAC34-634D-454A-B77F-A0B2033F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ROS 2 conecta controle, percepção e segurança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4BC4679-B216-41CC-8AC3-308DB7B6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741E19A-7109-4B63-A992-99343AE4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EA6C113-8B44-4DC6-A64F-CA390924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7625" y="4657725"/>
            <a:ext cx="1714500" cy="71438"/>
          </a:xfrm>
          <a:custGeom xmlns:a="http://schemas.openxmlformats.org/drawingml/2006/main">
            <a:rect l="l" t="t" r="r" b="b"/>
            <a:pathLst>
              <a:path w="2286000" h="95250">
                <a:moveTo>
                  <a:pt x="0" y="0"/>
                </a:moveTo>
                <a:lnTo>
                  <a:pt x="2286000" y="0"/>
                </a:lnTo>
                <a:lnTo>
                  <a:pt x="22860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8A7B81C-C664-44A4-BFAE-EE6D9B9E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9562" y="4657725"/>
            <a:ext cx="1714500" cy="71438"/>
          </a:xfrm>
          <a:custGeom xmlns:a="http://schemas.openxmlformats.org/drawingml/2006/main">
            <a:rect l="l" t="t" r="r" b="b"/>
            <a:pathLst>
              <a:path w="2286000" h="95250">
                <a:moveTo>
                  <a:pt x="0" y="0"/>
                </a:moveTo>
                <a:lnTo>
                  <a:pt x="2286000" y="0"/>
                </a:lnTo>
                <a:lnTo>
                  <a:pt x="22860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331EC300-3BB8-466C-8CF1-42F9D4CF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01500" y="4657725"/>
            <a:ext cx="1714500" cy="71438"/>
          </a:xfrm>
          <a:custGeom xmlns:a="http://schemas.openxmlformats.org/drawingml/2006/main">
            <a:rect l="l" t="t" r="r" b="b"/>
            <a:pathLst>
              <a:path w="2286000" h="95250">
                <a:moveTo>
                  <a:pt x="0" y="0"/>
                </a:moveTo>
                <a:lnTo>
                  <a:pt x="2286000" y="0"/>
                </a:lnTo>
                <a:lnTo>
                  <a:pt x="22860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60E4B0C-73FC-4224-B59C-A3937D20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3529012"/>
            <a:ext cx="3286125" cy="2357438"/>
          </a:xfrm>
          <a:custGeom xmlns:a="http://schemas.openxmlformats.org/drawingml/2006/main">
            <a:rect l="l" t="t" r="r" b="b"/>
            <a:pathLst>
              <a:path w="4381500" h="3143250">
                <a:moveTo>
                  <a:pt x="0" y="0"/>
                </a:moveTo>
                <a:lnTo>
                  <a:pt x="4381500" y="0"/>
                </a:lnTo>
                <a:lnTo>
                  <a:pt x="4381500" y="3143250"/>
                </a:lnTo>
                <a:lnTo>
                  <a:pt x="0" y="314325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415277A-1E03-4102-A963-2F482E4D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3884295"/>
            <a:ext cx="2531745" cy="28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ENTRADA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37B736-BCF5-44AB-A93D-BE2E4301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4636770"/>
            <a:ext cx="2531745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Logitech F710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via PC + rede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A0F4B31-13D9-445F-A5E3-96FF0ABF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72012" y="3529012"/>
            <a:ext cx="3286125" cy="2357438"/>
          </a:xfrm>
          <a:custGeom xmlns:a="http://schemas.openxmlformats.org/drawingml/2006/main">
            <a:rect l="l" t="t" r="r" b="b"/>
            <a:pathLst>
              <a:path w="4381500" h="3143250">
                <a:moveTo>
                  <a:pt x="0" y="0"/>
                </a:moveTo>
                <a:lnTo>
                  <a:pt x="4381500" y="0"/>
                </a:lnTo>
                <a:lnTo>
                  <a:pt x="4381500" y="3143250"/>
                </a:lnTo>
                <a:lnTo>
                  <a:pt x="0" y="314325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4CC4F2A7-2C2F-48E7-879A-93C1298E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203" y="3884295"/>
            <a:ext cx="2531745" cy="28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DECISÃO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7E0F3517-3B1F-4E82-8EEF-FC938C2D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9203" y="4636770"/>
            <a:ext cx="2531745" cy="1131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modo manual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ou autonomia reativa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2AB7DC7C-296B-41DC-BBAD-424C7974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43950" y="3529012"/>
            <a:ext cx="3286125" cy="2357438"/>
          </a:xfrm>
          <a:custGeom xmlns:a="http://schemas.openxmlformats.org/drawingml/2006/main">
            <a:rect l="l" t="t" r="r" b="b"/>
            <a:pathLst>
              <a:path w="4381500" h="3143250">
                <a:moveTo>
                  <a:pt x="0" y="0"/>
                </a:moveTo>
                <a:lnTo>
                  <a:pt x="4381500" y="0"/>
                </a:lnTo>
                <a:lnTo>
                  <a:pt x="4381500" y="3143250"/>
                </a:lnTo>
                <a:lnTo>
                  <a:pt x="0" y="3143250"/>
                </a:ln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A0247586-4AFC-412F-8E27-CD07602C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3884295"/>
            <a:ext cx="2531745" cy="28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CONTROLE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43CAB532-76FD-44A3-B67D-15B23F34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1140" y="4636770"/>
            <a:ext cx="2531745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UDP + ROS 2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prioridade manual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EE54017C-4EDE-4BA5-B324-62983B73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5888" y="3529012"/>
            <a:ext cx="3286125" cy="2357438"/>
          </a:xfrm>
          <a:custGeom xmlns:a="http://schemas.openxmlformats.org/drawingml/2006/main">
            <a:rect l="l" t="t" r="r" b="b"/>
            <a:pathLst>
              <a:path w="4381500" h="3143250">
                <a:moveTo>
                  <a:pt x="0" y="0"/>
                </a:moveTo>
                <a:lnTo>
                  <a:pt x="4381500" y="0"/>
                </a:lnTo>
                <a:lnTo>
                  <a:pt x="4381500" y="3143250"/>
                </a:lnTo>
                <a:lnTo>
                  <a:pt x="0" y="314325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41722D2B-984B-49E3-9D75-8DF745B0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3077" y="3884295"/>
            <a:ext cx="2531745" cy="284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HARDWARE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52C24ED4-2772-4146-A61E-A0B3CE8D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3077" y="4636770"/>
            <a:ext cx="2531745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Motor HAT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I²C + 3 motores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7E397182-F9AA-4ADA-8474-9695D8A6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6798945"/>
            <a:ext cx="15819120" cy="479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Nós pequenos, mensagens explícitas e serviços iniciados automaticamente.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F6F24979-1B95-4BA3-A3B4-C8562973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680007"/>
            <a:ext cx="15819120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686868"/>
                </a:solidFill>
                <a:latin typeface="Arial"/>
                <a:ea typeface="Arial"/>
                <a:cs typeface="Arial"/>
              </a:rPr>
              <a:t>A mesma base permite evoluir sem reescrever o robô a cada novo componente.</a:t>
            </a:r>
          </a:p>
        </p:txBody>
      </p:sp>
    </p:spTree>
    <p:extLst>
      <p:ext uri="{BB962C8B-B14F-4D97-AF65-F5344CB8AC3E}">
        <p14:creationId xmlns:p14="http://schemas.microsoft.com/office/powerpoint/2010/main" val="16594020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03795D39-E15C-43C0-B67D-23F3FC75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C5929868-CEE6-4389-A65E-D8C7A684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Hoje, o LiDAR dá ao robô uma visão circular do ambiente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82AC307-C0FB-4A10-8667-B9FD659C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1D905EF-C226-472E-BD23-ACF15E5B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394380D8-91CA-4198-873F-7DD18FDA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2528888"/>
            <a:ext cx="10287000" cy="6357938"/>
          </a:xfrm>
          <a:custGeom xmlns:a="http://schemas.openxmlformats.org/drawingml/2006/main">
            <a:rect l="l" t="t" r="r" b="b"/>
            <a:pathLst>
              <a:path w="13716000" h="8477250">
                <a:moveTo>
                  <a:pt x="0" y="0"/>
                </a:moveTo>
                <a:lnTo>
                  <a:pt x="13716000" y="0"/>
                </a:lnTo>
                <a:lnTo>
                  <a:pt x="13716000" y="8477250"/>
                </a:lnTo>
                <a:lnTo>
                  <a:pt x="0" y="8477250"/>
                </a:lnTo>
                <a:close/>
              </a:path>
            </a:pathLst>
          </a:custGeom>
          <a:solidFill xmlns:a="http://schemas.openxmlformats.org/drawingml/2006/main">
            <a:srgbClr val="F4F4F2"/>
          </a:solid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ABB4E7E9-AD71-4096-A805-E194D5AD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419" y="3050381"/>
            <a:ext cx="3729038" cy="1085850"/>
          </a:xfrm>
          <a:custGeom xmlns:a="http://schemas.openxmlformats.org/drawingml/2006/main">
            <a:rect l="l" t="t" r="r" b="b"/>
            <a:pathLst>
              <a:path w="4972050" h="1447800">
                <a:moveTo>
                  <a:pt x="0" y="0"/>
                </a:moveTo>
                <a:lnTo>
                  <a:pt x="4972050" y="0"/>
                </a:lnTo>
                <a:lnTo>
                  <a:pt x="4972050" y="1447800"/>
                </a:lnTo>
                <a:lnTo>
                  <a:pt x="0" y="14478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D5111E6B-5B66-4204-82F8-1C3E42C9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64981" y="3050381"/>
            <a:ext cx="4586288" cy="1085850"/>
          </a:xfrm>
          <a:custGeom xmlns:a="http://schemas.openxmlformats.org/drawingml/2006/main">
            <a:rect l="l" t="t" r="r" b="b"/>
            <a:pathLst>
              <a:path w="6115050" h="1447800">
                <a:moveTo>
                  <a:pt x="0" y="0"/>
                </a:moveTo>
                <a:lnTo>
                  <a:pt x="6115050" y="0"/>
                </a:lnTo>
                <a:lnTo>
                  <a:pt x="6115050" y="1447800"/>
                </a:lnTo>
                <a:lnTo>
                  <a:pt x="0" y="14478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7B0B354-FE13-4159-BD72-5B190C5D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419" y="4850606"/>
            <a:ext cx="3157538" cy="1514475"/>
          </a:xfrm>
          <a:custGeom xmlns:a="http://schemas.openxmlformats.org/drawingml/2006/main">
            <a:rect l="l" t="t" r="r" b="b"/>
            <a:pathLst>
              <a:path w="4210050" h="2019300">
                <a:moveTo>
                  <a:pt x="0" y="0"/>
                </a:moveTo>
                <a:lnTo>
                  <a:pt x="4210050" y="0"/>
                </a:lnTo>
                <a:lnTo>
                  <a:pt x="421005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76DCC04-C539-47AD-A365-9056192D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3481" y="4993481"/>
            <a:ext cx="2228850" cy="2728912"/>
          </a:xfrm>
          <a:custGeom xmlns:a="http://schemas.openxmlformats.org/drawingml/2006/main">
            <a:rect l="l" t="t" r="r" b="b"/>
            <a:pathLst>
              <a:path w="2971800" h="3638550">
                <a:moveTo>
                  <a:pt x="0" y="0"/>
                </a:moveTo>
                <a:lnTo>
                  <a:pt x="2971800" y="0"/>
                </a:lnTo>
                <a:lnTo>
                  <a:pt x="2971800" y="3638550"/>
                </a:lnTo>
                <a:lnTo>
                  <a:pt x="0" y="3638550"/>
                </a:lnTo>
                <a:close/>
              </a:path>
            </a:pathLst>
          </a:custGeom>
          <a:solidFill xmlns:a="http://schemas.openxmlformats.org/drawingml/2006/main">
            <a:srgbClr val="CFECCD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37BAB5B-10B5-4B98-9C4E-07FC6229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3856" y="4850606"/>
            <a:ext cx="2157412" cy="1300162"/>
          </a:xfrm>
          <a:custGeom xmlns:a="http://schemas.openxmlformats.org/drawingml/2006/main">
            <a:rect l="l" t="t" r="r" b="b"/>
            <a:pathLst>
              <a:path w="2876550" h="1733550">
                <a:moveTo>
                  <a:pt x="0" y="0"/>
                </a:moveTo>
                <a:lnTo>
                  <a:pt x="2876550" y="0"/>
                </a:lnTo>
                <a:lnTo>
                  <a:pt x="2876550" y="1733550"/>
                </a:lnTo>
                <a:lnTo>
                  <a:pt x="0" y="17335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737B20B0-51D3-4CD7-81BE-DFC1237A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419" y="7136606"/>
            <a:ext cx="3157538" cy="1085850"/>
          </a:xfrm>
          <a:custGeom xmlns:a="http://schemas.openxmlformats.org/drawingml/2006/main">
            <a:rect l="l" t="t" r="r" b="b"/>
            <a:pathLst>
              <a:path w="4210050" h="1447800">
                <a:moveTo>
                  <a:pt x="0" y="0"/>
                </a:moveTo>
                <a:lnTo>
                  <a:pt x="4210050" y="0"/>
                </a:lnTo>
                <a:lnTo>
                  <a:pt x="4210050" y="1447800"/>
                </a:lnTo>
                <a:lnTo>
                  <a:pt x="0" y="14478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05C9BC79-964B-4E06-96AF-2D89ED87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93856" y="6993731"/>
            <a:ext cx="2157412" cy="1228725"/>
          </a:xfrm>
          <a:custGeom xmlns:a="http://schemas.openxmlformats.org/drawingml/2006/main">
            <a:rect l="l" t="t" r="r" b="b"/>
            <a:pathLst>
              <a:path w="2876550" h="1638300">
                <a:moveTo>
                  <a:pt x="0" y="0"/>
                </a:moveTo>
                <a:lnTo>
                  <a:pt x="2876550" y="0"/>
                </a:lnTo>
                <a:lnTo>
                  <a:pt x="2876550" y="1638300"/>
                </a:lnTo>
                <a:lnTo>
                  <a:pt x="0" y="1638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 cap="sq">
            <a:solidFill>
              <a:srgbClr val="BEC3C7"/>
            </a:solidFill>
            <a:prstDash val="solid"/>
            <a:miter/>
          </a:ln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3FB37D08-160D-423F-8D7F-17D981F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0190" y="3427095"/>
            <a:ext cx="238887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LEITURA 360°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74581E2E-3074-45D1-A812-555FDF00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2190" y="3427095"/>
            <a:ext cx="32461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ZONAS DE SEGURANÇA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34D5242-705F-4FE0-A41A-18128326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8752" y="5427345"/>
            <a:ext cx="2174558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DESVIO REATIVO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5541A8AA-540E-4BB3-9681-21DEAC62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9253" y="5884545"/>
            <a:ext cx="1317308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LiDAR</a:t>
            </a:r>
          </a:p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/scan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823AFCF6-C796-419A-9FA8-1F9D098A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4788" y="4057650"/>
            <a:ext cx="371475" cy="371475"/>
          </a:xfrm>
          <a:custGeom xmlns:a="http://schemas.openxmlformats.org/drawingml/2006/main">
            <a:rect l="l" t="t" r="r" b="b"/>
            <a:pathLst>
              <a:path w="495300" h="4953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266700" y="0"/>
                </a:lnTo>
                <a:cubicBezTo>
                  <a:pt x="392938" y="0"/>
                  <a:pt x="495300" y="102362"/>
                  <a:pt x="495300" y="228600"/>
                </a:cubicBezTo>
                <a:lnTo>
                  <a:pt x="495300" y="266700"/>
                </a:lnTo>
                <a:cubicBezTo>
                  <a:pt x="495300" y="392938"/>
                  <a:pt x="392938" y="495300"/>
                  <a:pt x="266700" y="495300"/>
                </a:cubicBezTo>
                <a:lnTo>
                  <a:pt x="228600" y="495300"/>
                </a:lnTo>
                <a:cubicBezTo>
                  <a:pt x="102362" y="495300"/>
                  <a:pt x="0" y="392938"/>
                  <a:pt x="0" y="266700"/>
                </a:cubicBezTo>
                <a:close/>
              </a:path>
            </a:pathLst>
          </a:custGeom>
          <a:solidFill xmlns:a="http://schemas.openxmlformats.org/drawingml/2006/main">
            <a:srgbClr val="14321D"/>
          </a:solid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4E0C77F0-A192-4A6D-BB25-18F4EB39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7653" y="4012883"/>
            <a:ext cx="245745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700"/>
              </a:lnSpc>
              <a:buNone/>
            </a:pPr>
            <a:r>
              <a:rPr sz="2250">
                <a:solidFill>
                  <a:srgbClr val="65C466"/>
                </a:solidFill>
                <a:latin typeface="Arial"/>
                <a:ea typeface="Arial"/>
                <a:cs typeface="Arial"/>
              </a:rPr>
              <a:t>●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B02EE72E-6C22-4A2B-9B0D-DC8E9503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2912745"/>
            <a:ext cx="46748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RPLIDAR A1M8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B0887D03-C232-4334-B96C-0DA423E7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3484245"/>
            <a:ext cx="46748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publica /scan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1165D91F-43CE-43EB-8BB5-6E5FDA9E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7188" y="4286250"/>
            <a:ext cx="4714875" cy="14288"/>
          </a:xfrm>
          <a:custGeom xmlns:a="http://schemas.openxmlformats.org/drawingml/2006/main">
            <a:rect l="l" t="t" r="r" b="b"/>
            <a:pathLst>
              <a:path w="6286500" h="19050">
                <a:moveTo>
                  <a:pt x="0" y="0"/>
                </a:moveTo>
                <a:lnTo>
                  <a:pt x="6286500" y="0"/>
                </a:lnTo>
                <a:lnTo>
                  <a:pt x="62865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0D069EB8-FD46-479E-9412-9928A620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4784408"/>
            <a:ext cx="46748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frente crítica</a:t>
            </a:r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9D48A443-3DF5-4F85-A8A6-F97CCAD8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5355908"/>
            <a:ext cx="46748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parar ou desviar</a:t>
            </a:r>
          </a:p>
        </p:txBody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D1729BD2-A609-4F6C-8CFB-435539B9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7188" y="6143625"/>
            <a:ext cx="4714875" cy="14288"/>
          </a:xfrm>
          <a:custGeom xmlns:a="http://schemas.openxmlformats.org/drawingml/2006/main">
            <a:rect l="l" t="t" r="r" b="b"/>
            <a:pathLst>
              <a:path w="6286500" h="19050">
                <a:moveTo>
                  <a:pt x="0" y="0"/>
                </a:moveTo>
                <a:lnTo>
                  <a:pt x="6286500" y="0"/>
                </a:lnTo>
                <a:lnTo>
                  <a:pt x="62865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983293CC-5221-4EA0-9A62-2CA3F44E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6641782"/>
            <a:ext cx="467487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lado mais livre</a:t>
            </a:r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7672CEF8-B20F-45D4-9FD4-A94AB685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78628" y="7213282"/>
            <a:ext cx="467487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686868"/>
                </a:solidFill>
                <a:latin typeface="Arial"/>
                <a:ea typeface="Arial"/>
                <a:cs typeface="Arial"/>
              </a:rPr>
              <a:t>para desviar</a:t>
            </a:r>
          </a:p>
        </p:txBody>
      </p:sp>
    </p:spTree>
    <p:extLst>
      <p:ext uri="{BB962C8B-B14F-4D97-AF65-F5344CB8AC3E}">
        <p14:creationId xmlns:p14="http://schemas.microsoft.com/office/powerpoint/2010/main" val="15020359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5E9AEE4F-6434-4E5A-BCF7-6AD2890B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5CE2FABA-8958-4660-A28B-3FC9787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Percepção atual: LiDAR ativo. Sensores extras: evolução planejada.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9342081-3788-46E6-8569-D1385FFB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B815874-29F8-4C17-B2B9-31D08175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DC1D3CF8-423B-4747-9FEA-A39A9E00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598420"/>
            <a:ext cx="296037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RPLIDAR A1M8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8376EB1-A54D-4E76-9BD0-08FDF4AF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4815" y="2607945"/>
            <a:ext cx="52463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varredura 2D em 360°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B7D272C-3C97-4998-BF88-2199A4D8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9940" y="2607945"/>
            <a:ext cx="58178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parada e desvio reativo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B182151-11D1-4832-8C10-2B71B914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3457575"/>
            <a:ext cx="16216312" cy="57150"/>
          </a:xfrm>
          <a:custGeom xmlns:a="http://schemas.openxmlformats.org/drawingml/2006/main">
            <a:rect l="l" t="t" r="r" b="b"/>
            <a:pathLst>
              <a:path w="21621750" h="76200">
                <a:moveTo>
                  <a:pt x="0" y="0"/>
                </a:moveTo>
                <a:lnTo>
                  <a:pt x="21621750" y="0"/>
                </a:lnTo>
                <a:lnTo>
                  <a:pt x="2162175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0ABDF8CE-E54A-4935-93B8-3C908A00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055745"/>
            <a:ext cx="296037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Câmera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87DD99C9-E74A-4988-9068-48F1BF8D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4815" y="4065270"/>
            <a:ext cx="52463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webcam disponível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3237962-6DDB-4288-AD07-50FEB66C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9940" y="4065270"/>
            <a:ext cx="58178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integração planejada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ADA1F88B-C2EC-4BD9-A58F-EE9D414A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4914900"/>
            <a:ext cx="16216312" cy="14288"/>
          </a:xfrm>
          <a:custGeom xmlns:a="http://schemas.openxmlformats.org/drawingml/2006/main">
            <a:rect l="l" t="t" r="r" b="b"/>
            <a:pathLst>
              <a:path w="21621750" h="19050">
                <a:moveTo>
                  <a:pt x="0" y="0"/>
                </a:moveTo>
                <a:lnTo>
                  <a:pt x="21621750" y="0"/>
                </a:lnTo>
                <a:lnTo>
                  <a:pt x="2162175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30F2B52F-1F40-4775-88FB-5DAB585A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513070"/>
            <a:ext cx="296037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ToF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143D8DF9-B420-4648-AEC1-97422B80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4815" y="5522595"/>
            <a:ext cx="52463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proteção próxima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7F76733-8780-4626-A65B-52DBD7CF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9940" y="5522595"/>
            <a:ext cx="58178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integração planejada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42FE2834-9F09-4C20-BDE8-ED74A43C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6372225"/>
            <a:ext cx="16216312" cy="14288"/>
          </a:xfrm>
          <a:custGeom xmlns:a="http://schemas.openxmlformats.org/drawingml/2006/main">
            <a:rect l="l" t="t" r="r" b="b"/>
            <a:pathLst>
              <a:path w="21621750" h="19050">
                <a:moveTo>
                  <a:pt x="0" y="0"/>
                </a:moveTo>
                <a:lnTo>
                  <a:pt x="21621750" y="0"/>
                </a:lnTo>
                <a:lnTo>
                  <a:pt x="2162175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94D0DCAF-054D-4A19-AD85-5C11ABD9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6970395"/>
            <a:ext cx="296037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IMU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58CD111D-238C-4130-8700-6968659E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4815" y="6979920"/>
            <a:ext cx="52463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>
                <a:solidFill>
                  <a:srgbClr val="686868"/>
                </a:solidFill>
                <a:latin typeface="Arial"/>
                <a:ea typeface="Arial"/>
                <a:cs typeface="Arial"/>
              </a:rPr>
              <a:t>orientação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2D7145AE-C0B5-4B4F-BC9A-CBB17BF2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9940" y="6979920"/>
            <a:ext cx="58178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integração planejada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1F6DA48-916B-47D6-A296-5D427ABF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7829550"/>
            <a:ext cx="16216312" cy="14288"/>
          </a:xfrm>
          <a:custGeom xmlns:a="http://schemas.openxmlformats.org/drawingml/2006/main">
            <a:rect l="l" t="t" r="r" b="b"/>
            <a:pathLst>
              <a:path w="21621750" h="19050">
                <a:moveTo>
                  <a:pt x="0" y="0"/>
                </a:moveTo>
                <a:lnTo>
                  <a:pt x="21621750" y="0"/>
                </a:lnTo>
                <a:lnTo>
                  <a:pt x="2162175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5FC02B51-50BD-40FF-B63B-544AF8E3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8784907"/>
            <a:ext cx="15819120" cy="4114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Hoje, o LiDAR é o sensor ativo da autonomia. Cada novo sensor será integrado e validado separadamente.</a:t>
            </a:r>
          </a:p>
        </p:txBody>
      </p:sp>
    </p:spTree>
    <p:extLst>
      <p:ext uri="{BB962C8B-B14F-4D97-AF65-F5344CB8AC3E}">
        <p14:creationId xmlns:p14="http://schemas.microsoft.com/office/powerpoint/2010/main" val="9691432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6F0BB091-19E6-4E7A-9B72-A219F61D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3FC6F631-197B-4D12-9083-F655EE3A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Autonomia reativa: segura antes de ser completa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7ED8FD0-2FB5-41B9-8B09-07C40560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5AD4524-A25D-4493-AE61-3C41402A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090AE8C-85D0-4D33-A6DE-4D33C3EB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669858"/>
            <a:ext cx="745807" cy="499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01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7423BB27-C1B2-497F-B2DD-C968B296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3457575"/>
            <a:ext cx="3571875" cy="28575"/>
          </a:xfrm>
          <a:custGeom xmlns:a="http://schemas.openxmlformats.org/drawingml/2006/main">
            <a:rect l="l" t="t" r="r" b="b"/>
            <a:pathLst>
              <a:path w="4762500" h="38100">
                <a:moveTo>
                  <a:pt x="0" y="0"/>
                </a:moveTo>
                <a:lnTo>
                  <a:pt x="4762500" y="0"/>
                </a:lnTo>
                <a:lnTo>
                  <a:pt x="47625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25169864-C3D1-4FF9-A11F-8BBF72F2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3912870"/>
            <a:ext cx="3388995" cy="394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Ler o LiDAR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F82CD58-523B-4B51-B1C9-DD92A4A4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965383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/scan atualizado</a:t>
            </a:r>
          </a:p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a cada varredura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1C931501-E804-45DE-9F82-1C8E30BE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2040" y="2669858"/>
            <a:ext cx="745807" cy="499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02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DE3D603A-C4B0-4E49-9A0A-8E25CF5C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00600" y="3457575"/>
            <a:ext cx="3571875" cy="28575"/>
          </a:xfrm>
          <a:custGeom xmlns:a="http://schemas.openxmlformats.org/drawingml/2006/main">
            <a:rect l="l" t="t" r="r" b="b"/>
            <a:pathLst>
              <a:path w="4762500" h="38100">
                <a:moveTo>
                  <a:pt x="0" y="0"/>
                </a:moveTo>
                <a:lnTo>
                  <a:pt x="4762500" y="0"/>
                </a:lnTo>
                <a:lnTo>
                  <a:pt x="47625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52BDA84-A8D7-4628-B2E7-B164259A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2040" y="3912870"/>
            <a:ext cx="3388995" cy="394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Avaliar a frente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2EDF0FB-834F-4BD4-B0B5-112841F0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2040" y="4965383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0,35 m: parar</a:t>
            </a:r>
          </a:p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0,80 m: desviar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77C72CC-9875-4A12-9717-8D6D8979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2669858"/>
            <a:ext cx="745807" cy="499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03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80F43546-9E3B-48CE-8342-9E99F5A1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01125" y="3457575"/>
            <a:ext cx="3571875" cy="28575"/>
          </a:xfrm>
          <a:custGeom xmlns:a="http://schemas.openxmlformats.org/drawingml/2006/main">
            <a:rect l="l" t="t" r="r" b="b"/>
            <a:pathLst>
              <a:path w="4762500" h="38100">
                <a:moveTo>
                  <a:pt x="0" y="0"/>
                </a:moveTo>
                <a:lnTo>
                  <a:pt x="4762500" y="0"/>
                </a:lnTo>
                <a:lnTo>
                  <a:pt x="47625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EAC3746-4959-42C4-9487-16DF49A1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3912870"/>
            <a:ext cx="3388995" cy="394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Escolher o desvio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631F104-BE96-4205-A87C-7C1E0A04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4965383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comparar esquerda</a:t>
            </a:r>
          </a:p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e direita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004C6643-1193-4C46-9950-942C47D2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3090" y="2669858"/>
            <a:ext cx="745807" cy="499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779"/>
              </a:lnSpc>
              <a:buNone/>
            </a:pPr>
            <a:r>
              <a:rPr sz="31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04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B76A7A7D-ACFF-49E0-B6A7-A9E9EC9C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01650" y="3457575"/>
            <a:ext cx="3571875" cy="28575"/>
          </a:xfrm>
          <a:custGeom xmlns:a="http://schemas.openxmlformats.org/drawingml/2006/main">
            <a:rect l="l" t="t" r="r" b="b"/>
            <a:pathLst>
              <a:path w="4762500" h="38100">
                <a:moveTo>
                  <a:pt x="0" y="0"/>
                </a:moveTo>
                <a:lnTo>
                  <a:pt x="4762500" y="0"/>
                </a:lnTo>
                <a:lnTo>
                  <a:pt x="4762500" y="38100"/>
                </a:lnTo>
                <a:lnTo>
                  <a:pt x="0" y="3810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8F6C7983-6BE4-4810-9A0B-ABCC373A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3090" y="3912870"/>
            <a:ext cx="3388995" cy="3942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104"/>
              </a:lnSpc>
              <a:buNone/>
            </a:pPr>
            <a:r>
              <a:rPr sz="2587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Mover ou parar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9BF0FE24-4E04-4942-9044-DB4289B2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3090" y="4965383"/>
            <a:ext cx="3388995" cy="651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LiDAR ausente, timeout</a:t>
            </a:r>
          </a:p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137">
                <a:solidFill>
                  <a:srgbClr val="686868"/>
                </a:solidFill>
                <a:latin typeface="Arial"/>
                <a:ea typeface="Arial"/>
                <a:cs typeface="Arial"/>
              </a:rPr>
              <a:t>ou risco: parada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CB9EA852-D715-4B18-8642-0389C122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7015162"/>
            <a:ext cx="16216312" cy="1428750"/>
          </a:xfrm>
          <a:custGeom xmlns:a="http://schemas.openxmlformats.org/drawingml/2006/main">
            <a:rect l="l" t="t" r="r" b="b"/>
            <a:pathLst>
              <a:path w="21621750" h="1905000">
                <a:moveTo>
                  <a:pt x="0" y="0"/>
                </a:moveTo>
                <a:lnTo>
                  <a:pt x="21621750" y="0"/>
                </a:lnTo>
                <a:lnTo>
                  <a:pt x="21621750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14321D"/>
          </a:solid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8A8DF44-6860-4D59-8CDE-F7606FE4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" y="7408545"/>
            <a:ext cx="496062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35"/>
              </a:lnSpc>
              <a:buNone/>
            </a:pPr>
            <a:r>
              <a:rPr sz="2362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Prioridade de segurança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2B2080CA-05ED-4266-AEB2-77171934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065" y="7394257"/>
            <a:ext cx="9818370" cy="3771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parada por risco → comando manual → autonomia habilitada</a:t>
            </a:r>
          </a:p>
        </p:txBody>
      </p:sp>
    </p:spTree>
    <p:extLst>
      <p:ext uri="{BB962C8B-B14F-4D97-AF65-F5344CB8AC3E}">
        <p14:creationId xmlns:p14="http://schemas.microsoft.com/office/powerpoint/2010/main" val="113958346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9CD6CAD2-2550-4690-8004-0218D795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02D28FA5-467B-46E7-BB1B-AFEBBBF6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Voz é a próxima interface — não o cérebro do robô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24CC268-D98C-4212-96A0-95101FDD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CE8EE3E1-269F-49D8-A88F-9C8646A7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9A4CE13-3744-42CD-A25F-12E96C3E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598420"/>
            <a:ext cx="8389620" cy="713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590"/>
              </a:lnSpc>
              <a:buNone/>
            </a:pPr>
            <a:r>
              <a:rPr sz="382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“Onde fica o auditório?”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85030B7-7058-494A-ACDB-EE8F4A52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14750" y="4786312"/>
            <a:ext cx="1571625" cy="57150"/>
          </a:xfrm>
          <a:custGeom xmlns:a="http://schemas.openxmlformats.org/drawingml/2006/main">
            <a:rect l="l" t="t" r="r" b="b"/>
            <a:pathLst>
              <a:path w="2095500" h="76200">
                <a:moveTo>
                  <a:pt x="0" y="0"/>
                </a:moveTo>
                <a:lnTo>
                  <a:pt x="2095500" y="0"/>
                </a:lnTo>
                <a:lnTo>
                  <a:pt x="2095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009AE797-D041-48FA-BAA9-E33C39B1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9562" y="4786312"/>
            <a:ext cx="1571625" cy="57150"/>
          </a:xfrm>
          <a:custGeom xmlns:a="http://schemas.openxmlformats.org/drawingml/2006/main">
            <a:rect l="l" t="t" r="r" b="b"/>
            <a:pathLst>
              <a:path w="2095500" h="76200">
                <a:moveTo>
                  <a:pt x="0" y="0"/>
                </a:moveTo>
                <a:lnTo>
                  <a:pt x="2095500" y="0"/>
                </a:lnTo>
                <a:lnTo>
                  <a:pt x="2095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7D2FE0E5-32B2-4040-8B21-6A157E9D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44375" y="4786312"/>
            <a:ext cx="1571625" cy="57150"/>
          </a:xfrm>
          <a:custGeom xmlns:a="http://schemas.openxmlformats.org/drawingml/2006/main">
            <a:rect l="l" t="t" r="r" b="b"/>
            <a:pathLst>
              <a:path w="2095500" h="76200">
                <a:moveTo>
                  <a:pt x="0" y="0"/>
                </a:moveTo>
                <a:lnTo>
                  <a:pt x="2095500" y="0"/>
                </a:lnTo>
                <a:lnTo>
                  <a:pt x="20955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ADF00528-4A3F-4F9B-98DB-12FBED7C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3929062"/>
            <a:ext cx="3143250" cy="1857375"/>
          </a:xfrm>
          <a:custGeom xmlns:a="http://schemas.openxmlformats.org/drawingml/2006/main">
            <a:rect l="l" t="t" r="r" b="b"/>
            <a:pathLst>
              <a:path w="4191000" h="2476500">
                <a:moveTo>
                  <a:pt x="0" y="0"/>
                </a:moveTo>
                <a:lnTo>
                  <a:pt x="4191000" y="0"/>
                </a:lnTo>
                <a:lnTo>
                  <a:pt x="4191000" y="2476500"/>
                </a:lnTo>
                <a:lnTo>
                  <a:pt x="0" y="247650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63DD2B08-BE56-407D-BADF-BA693ECE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" y="4265295"/>
            <a:ext cx="2446020" cy="260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OUVIR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B716B838-766A-4E52-B459-4E97061A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690" y="4884420"/>
            <a:ext cx="244602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microfone</a:t>
            </a:r>
          </a:p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(próxima etapa)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FBB2DE0-8E56-4569-B6B8-47571E9C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14888" y="3929062"/>
            <a:ext cx="3143250" cy="1857375"/>
          </a:xfrm>
          <a:custGeom xmlns:a="http://schemas.openxmlformats.org/drawingml/2006/main">
            <a:rect l="l" t="t" r="r" b="b"/>
            <a:pathLst>
              <a:path w="4191000" h="2476500">
                <a:moveTo>
                  <a:pt x="0" y="0"/>
                </a:moveTo>
                <a:lnTo>
                  <a:pt x="4191000" y="0"/>
                </a:lnTo>
                <a:lnTo>
                  <a:pt x="4191000" y="2476500"/>
                </a:lnTo>
                <a:lnTo>
                  <a:pt x="0" y="247650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CDE9C417-3B90-45E5-BFC7-EC277C50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3503" y="4265295"/>
            <a:ext cx="2446020" cy="260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RECONHECER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FBD2003-EB52-4DB7-B0A5-4BBD3C33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3503" y="4884420"/>
            <a:ext cx="244602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fala → texto</a:t>
            </a:r>
          </a:p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(a validar)</a:t>
            </a:r>
          </a:p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3A40969A-FCC6-45F9-AEBA-65A10168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29700" y="3929062"/>
            <a:ext cx="3143250" cy="1857375"/>
          </a:xfrm>
          <a:custGeom xmlns:a="http://schemas.openxmlformats.org/drawingml/2006/main">
            <a:rect l="l" t="t" r="r" b="b"/>
            <a:pathLst>
              <a:path w="4191000" h="2476500">
                <a:moveTo>
                  <a:pt x="0" y="0"/>
                </a:moveTo>
                <a:lnTo>
                  <a:pt x="4191000" y="0"/>
                </a:lnTo>
                <a:lnTo>
                  <a:pt x="4191000" y="2476500"/>
                </a:lnTo>
                <a:lnTo>
                  <a:pt x="0" y="2476500"/>
                </a:ln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A300869-F492-4396-A5EF-8BAC9235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8315" y="4265295"/>
            <a:ext cx="2446020" cy="260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ENTENDER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20DA07EF-EB2C-4FCD-A991-36776A4A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8315" y="4884420"/>
            <a:ext cx="244602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intenção + destino</a:t>
            </a:r>
          </a:p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(futuro)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ABD37452-8D69-478B-9B29-1A8E13B3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4512" y="3929062"/>
            <a:ext cx="3143250" cy="1857375"/>
          </a:xfrm>
          <a:custGeom xmlns:a="http://schemas.openxmlformats.org/drawingml/2006/main">
            <a:rect l="l" t="t" r="r" b="b"/>
            <a:pathLst>
              <a:path w="4191000" h="2476500">
                <a:moveTo>
                  <a:pt x="0" y="0"/>
                </a:moveTo>
                <a:lnTo>
                  <a:pt x="4191000" y="0"/>
                </a:lnTo>
                <a:lnTo>
                  <a:pt x="4191000" y="2476500"/>
                </a:lnTo>
                <a:lnTo>
                  <a:pt x="0" y="2476500"/>
                </a:lnTo>
                <a:close/>
              </a:path>
            </a:pathLst>
          </a:custGeom>
          <a:solidFill xmlns:a="http://schemas.openxmlformats.org/drawingml/2006/main">
            <a:srgbClr val="EEEEEC"/>
          </a:solid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058650EE-977F-4CD9-B173-515DEA52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3127" y="4265295"/>
            <a:ext cx="2446020" cy="260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AGIR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586B028A-925E-41C5-A2A9-22BA2FFF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93127" y="4884420"/>
            <a:ext cx="244602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navegação</a:t>
            </a:r>
          </a:p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por mapa (futuro)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D1E616C2-CBDC-487C-B8EE-07B3FC24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6798945"/>
            <a:ext cx="15676245" cy="4457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A interface de voz só entra depois que mapa, navegação e segurança estiverem validados.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D21CFEBB-5B3D-429C-A460-1CD914A5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856220"/>
            <a:ext cx="160020" cy="44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A192B135-3BEE-49EA-8C0B-D211BC5A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8715" y="7856220"/>
            <a:ext cx="7075170" cy="641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111111"/>
                </a:solidFill>
                <a:latin typeface="Arial"/>
                <a:ea typeface="Arial"/>
                <a:cs typeface="Arial"/>
              </a:rPr>
              <a:t>vocabulário limitado aumenta a confiabilidade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1F329F02-3CBE-4421-8956-92E6A21B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2565" y="7856220"/>
            <a:ext cx="160020" cy="441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•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B7134AB-DC90-418A-8C09-990228D2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765" y="7856220"/>
            <a:ext cx="7218045" cy="6419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00"/>
              </a:lnSpc>
              <a:buNone/>
            </a:pPr>
            <a:r>
              <a:rPr sz="225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confirmação evita destinos interpretados incorretamente</a:t>
            </a:r>
          </a:p>
        </p:txBody>
      </p:sp>
    </p:spTree>
    <p:extLst>
      <p:ext uri="{BB962C8B-B14F-4D97-AF65-F5344CB8AC3E}">
        <p14:creationId xmlns:p14="http://schemas.microsoft.com/office/powerpoint/2010/main" val="122720675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EB64F62C-4279-4539-BC0E-77F8D7CC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36245"/>
            <a:ext cx="6960870" cy="23990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57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 · LATINOWARE 2026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4E72EBBE-134E-4F61-869D-2BA8A353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955357"/>
            <a:ext cx="16747807" cy="7200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670"/>
              </a:lnSpc>
              <a:buNone/>
            </a:pPr>
            <a:r>
              <a:rPr sz="47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Marcos do protótipo até o robô-guia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0398A8B-8E0A-46B8-9F82-8B649406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1985962"/>
            <a:ext cx="17087850" cy="14288"/>
          </a:xfrm>
          <a:custGeom xmlns:a="http://schemas.openxmlformats.org/drawingml/2006/main">
            <a:rect l="l" t="t" r="r" b="b"/>
            <a:pathLst>
              <a:path w="22783800" h="19050">
                <a:moveTo>
                  <a:pt x="0" y="0"/>
                </a:moveTo>
                <a:lnTo>
                  <a:pt x="22783800" y="0"/>
                </a:lnTo>
                <a:lnTo>
                  <a:pt x="227838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1CC8D62-5940-44AB-806D-2CB43B2B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07840" y="9580245"/>
            <a:ext cx="560070" cy="203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755"/>
              </a:lnSpc>
              <a:buNone/>
            </a:pPr>
            <a:r>
              <a:rPr sz="1462">
                <a:solidFill>
                  <a:srgbClr val="6868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5E268C1-DF36-44F3-A998-F34127B8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79844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1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A57D8A8-2AB7-40F3-8577-B976E2C2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3627120"/>
            <a:ext cx="26746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MOVER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F6CA00E-8FDC-4A9A-9798-7A465098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4179570"/>
            <a:ext cx="26746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M1, M2 e M3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D43B4C9-E099-4F5C-81E6-2BC2F2CE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14700" y="2986088"/>
            <a:ext cx="657225" cy="42862"/>
          </a:xfrm>
          <a:custGeom xmlns:a="http://schemas.openxmlformats.org/drawingml/2006/main">
            <a:rect l="l" t="t" r="r" b="b"/>
            <a:pathLst>
              <a:path w="876300" h="57150">
                <a:moveTo>
                  <a:pt x="0" y="0"/>
                </a:moveTo>
                <a:lnTo>
                  <a:pt x="876300" y="0"/>
                </a:lnTo>
                <a:lnTo>
                  <a:pt x="876300" y="5715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54F0D0CD-866B-47A3-98F8-C7671C51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3365" y="279844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2</a:t>
            </a: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5C42C2A3-49B0-41BD-B88B-5EF96418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3365" y="3627120"/>
            <a:ext cx="26746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PERCEBER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A364C2A-F54F-4EE2-97DE-FF3B16F2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3365" y="4179570"/>
            <a:ext cx="26746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RPLIDAR A1M8</a:t>
            </a: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2A0852E-183C-4812-B2FF-19DEB7C2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86550" y="2986088"/>
            <a:ext cx="657225" cy="42862"/>
          </a:xfrm>
          <a:custGeom xmlns:a="http://schemas.openxmlformats.org/drawingml/2006/main">
            <a:rect l="l" t="t" r="r" b="b"/>
            <a:pathLst>
              <a:path w="876300" h="57150">
                <a:moveTo>
                  <a:pt x="0" y="0"/>
                </a:moveTo>
                <a:lnTo>
                  <a:pt x="876300" y="0"/>
                </a:lnTo>
                <a:lnTo>
                  <a:pt x="876300" y="5715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2255B5D7-1168-455E-A355-09F88AD4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5215" y="279844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3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84056262-B6A8-466C-8999-7E787468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5215" y="3627120"/>
            <a:ext cx="26746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MAPEAR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5FDD110-C714-4681-A8FC-E528AB44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5215" y="4179570"/>
            <a:ext cx="26746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próxima etapa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69AE0708-2CB0-4E3A-A1B7-84E920EB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58400" y="2986088"/>
            <a:ext cx="657225" cy="42862"/>
          </a:xfrm>
          <a:custGeom xmlns:a="http://schemas.openxmlformats.org/drawingml/2006/main">
            <a:rect l="l" t="t" r="r" b="b"/>
            <a:pathLst>
              <a:path w="876300" h="57150">
                <a:moveTo>
                  <a:pt x="0" y="0"/>
                </a:moveTo>
                <a:lnTo>
                  <a:pt x="876300" y="0"/>
                </a:lnTo>
                <a:lnTo>
                  <a:pt x="876300" y="5715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629C2F8-EE0A-4928-81C9-2D6DEB1AC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7065" y="279844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4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4B92630D-75FD-43EB-8E7A-9800F2D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7065" y="3627120"/>
            <a:ext cx="26746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NOMEAR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F9CF8A4-8163-438B-9BCF-8CFFA0E9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07065" y="4179570"/>
            <a:ext cx="26746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casa e destinos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2BD045E-7F63-4EFE-8A7F-80CFAB96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30250" y="2986088"/>
            <a:ext cx="657225" cy="42862"/>
          </a:xfrm>
          <a:custGeom xmlns:a="http://schemas.openxmlformats.org/drawingml/2006/main">
            <a:rect l="l" t="t" r="r" b="b"/>
            <a:pathLst>
              <a:path w="876300" h="57150">
                <a:moveTo>
                  <a:pt x="0" y="0"/>
                </a:moveTo>
                <a:lnTo>
                  <a:pt x="876300" y="0"/>
                </a:lnTo>
                <a:lnTo>
                  <a:pt x="876300" y="5715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BEC3C7"/>
          </a:solid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9774EEA-C9B1-43BF-9DD6-74AD1E34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8915" y="2798445"/>
            <a:ext cx="531495" cy="4276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65C466"/>
                </a:solidFill>
                <a:latin typeface="Arial Bold"/>
                <a:ea typeface="Arial Bold"/>
                <a:cs typeface="Arial Bold"/>
              </a:rPr>
              <a:t>5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1457F9FD-BF12-4214-8F34-BE6612EB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8915" y="3627120"/>
            <a:ext cx="267462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GUIAR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859812E6-BD1B-42AA-8048-B09F7120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78915" y="4179570"/>
            <a:ext cx="2674620" cy="308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2025">
                <a:solidFill>
                  <a:srgbClr val="686868"/>
                </a:solidFill>
                <a:latin typeface="Arial"/>
                <a:ea typeface="Arial"/>
                <a:cs typeface="Arial"/>
              </a:rPr>
              <a:t>chegar e retornar</a:t>
            </a:r>
          </a:p>
        </p:txBody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09628B25-9D94-47A4-B0CA-4C7F92B2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5929312"/>
            <a:ext cx="16216312" cy="2071688"/>
          </a:xfrm>
          <a:custGeom xmlns:a="http://schemas.openxmlformats.org/drawingml/2006/main">
            <a:rect l="l" t="t" r="r" b="b"/>
            <a:pathLst>
              <a:path w="21621750" h="2762250">
                <a:moveTo>
                  <a:pt x="0" y="0"/>
                </a:moveTo>
                <a:lnTo>
                  <a:pt x="21621750" y="0"/>
                </a:lnTo>
                <a:lnTo>
                  <a:pt x="21621750" y="2762250"/>
                </a:lnTo>
                <a:lnTo>
                  <a:pt x="0" y="2762250"/>
                </a:lnTo>
                <a:close/>
              </a:path>
            </a:pathLst>
          </a:custGeom>
          <a:solidFill xmlns:a="http://schemas.openxmlformats.org/drawingml/2006/main">
            <a:srgbClr val="CFECCD"/>
          </a:solid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045FEFDC-2253-4C1C-9D51-79F49152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" y="6398895"/>
            <a:ext cx="5817870" cy="891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510"/>
              </a:lnSpc>
              <a:buNone/>
            </a:pPr>
            <a:r>
              <a:rPr sz="2925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A base móvel, o LiDAR e a segurança reativa já foram validados.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AA6097E8-57B4-469E-8DFB-555EEA47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65" y="7084695"/>
            <a:ext cx="1453324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75"/>
              </a:lnSpc>
              <a:buNone/>
            </a:pPr>
            <a:r>
              <a:rPr sz="2812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O próximo marco é gerar e salvar o primeiro mapa.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199F3B88-A240-4771-940F-82D1325A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8680132"/>
            <a:ext cx="15533370" cy="360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35"/>
              </a:lnSpc>
              <a:buNone/>
            </a:pPr>
            <a:r>
              <a:rPr sz="2362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CAD · eletrônica · ROS 2 · LiDAR · testes · documentação</a:t>
            </a:r>
          </a:p>
        </p:txBody>
      </p:sp>
    </p:spTree>
    <p:extLst>
      <p:ext uri="{BB962C8B-B14F-4D97-AF65-F5344CB8AC3E}">
        <p14:creationId xmlns:p14="http://schemas.microsoft.com/office/powerpoint/2010/main" val="113887195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5C2A23B0-336C-4325-A15A-F23B576E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569595"/>
            <a:ext cx="4103370" cy="2743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ONIGIRI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1A31DB71-597C-4466-A1B8-9528A8A7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2160270"/>
            <a:ext cx="13390245" cy="2983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830"/>
              </a:lnSpc>
              <a:buNone/>
            </a:pPr>
            <a:r>
              <a:rPr sz="65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Tecnologia aberta</a:t>
            </a:r>
          </a:p>
          <a:p xmlns:a="http://schemas.openxmlformats.org/drawingml/2006/main">
            <a:pPr algn="l">
              <a:lnSpc>
                <a:spcPts val="7830"/>
              </a:lnSpc>
              <a:buNone/>
            </a:pPr>
            <a:r>
              <a:rPr sz="65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é tecnologia que</a:t>
            </a:r>
          </a:p>
          <a:p xmlns:a="http://schemas.openxmlformats.org/drawingml/2006/main">
            <a:pPr algn="l">
              <a:lnSpc>
                <a:spcPts val="7830"/>
              </a:lnSpc>
              <a:buNone/>
            </a:pPr>
            <a:r>
              <a:rPr sz="6525" b="1">
                <a:solidFill>
                  <a:srgbClr val="111111"/>
                </a:solidFill>
                <a:latin typeface="Arial Bold"/>
                <a:ea typeface="Arial Bold"/>
                <a:cs typeface="Arial Bold"/>
              </a:rPr>
              <a:t>pode evoluir com a comunidade.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5B80701-C9BD-4183-AEED-332A2AC3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075" y="6400800"/>
            <a:ext cx="4286250" cy="85725"/>
          </a:xfrm>
          <a:custGeom xmlns:a="http://schemas.openxmlformats.org/drawingml/2006/main">
            <a:rect l="l" t="t" r="r" b="b"/>
            <a:pathLst>
              <a:path w="5715000" h="114300">
                <a:moveTo>
                  <a:pt x="0" y="0"/>
                </a:moveTo>
                <a:lnTo>
                  <a:pt x="5715000" y="0"/>
                </a:lnTo>
                <a:lnTo>
                  <a:pt x="5715000" y="11430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65C466"/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957DDAF5-9624-4208-8B32-2AC2A804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027545"/>
            <a:ext cx="12675870" cy="470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40"/>
              </a:lnSpc>
              <a:buNone/>
            </a:pPr>
            <a:r>
              <a:rPr sz="2700" b="1">
                <a:solidFill>
                  <a:srgbClr val="14321D"/>
                </a:solidFill>
                <a:latin typeface="Arial Bold"/>
                <a:ea typeface="Arial Bold"/>
                <a:cs typeface="Arial Bold"/>
              </a:rPr>
              <a:t>Construir · documentar · compartilhar · melhorar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8AA77A9A-3822-414C-9E0A-CF661257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" y="7965757"/>
            <a:ext cx="10675620" cy="7543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686868"/>
                </a:solidFill>
                <a:latin typeface="Arial"/>
                <a:ea typeface="Arial"/>
                <a:cs typeface="Arial"/>
              </a:rPr>
              <a:t>O robô-guia é a meta.</a:t>
            </a:r>
          </a:p>
          <a:p xmlns:a="http://schemas.openxmlformats.org/drawingml/2006/main">
            <a:pPr algn="l">
              <a:lnSpc>
                <a:spcPts val="2970"/>
              </a:lnSpc>
              <a:buNone/>
            </a:pPr>
            <a:r>
              <a:rPr sz="2475">
                <a:solidFill>
                  <a:srgbClr val="686868"/>
                </a:solidFill>
                <a:latin typeface="Arial"/>
                <a:ea typeface="Arial"/>
                <a:cs typeface="Arial"/>
              </a:rPr>
              <a:t>A plataforma aberta é o caminho que já começou.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768D5A80-BF5A-445C-9DD3-693E8A8E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7375" y="6943725"/>
            <a:ext cx="3286125" cy="1228725"/>
          </a:xfrm>
          <a:custGeom xmlns:a="http://schemas.openxmlformats.org/drawingml/2006/main">
            <a:rect l="l" t="t" r="r" b="b"/>
            <a:pathLst>
              <a:path w="4381500" h="16383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4152900" y="0"/>
                </a:lnTo>
                <a:cubicBezTo>
                  <a:pt x="4279138" y="0"/>
                  <a:pt x="4381500" y="102362"/>
                  <a:pt x="4381500" y="228600"/>
                </a:cubicBezTo>
                <a:lnTo>
                  <a:pt x="4381500" y="1409700"/>
                </a:lnTo>
                <a:cubicBezTo>
                  <a:pt x="4381500" y="1535938"/>
                  <a:pt x="4279138" y="1638300"/>
                  <a:pt x="4152900" y="1638300"/>
                </a:cubicBezTo>
                <a:lnTo>
                  <a:pt x="228600" y="1638300"/>
                </a:lnTo>
                <a:cubicBezTo>
                  <a:pt x="102362" y="1638300"/>
                  <a:pt x="0" y="1535938"/>
                  <a:pt x="0" y="1409700"/>
                </a:cubicBezTo>
                <a:close/>
              </a:path>
            </a:pathLst>
          </a:custGeom>
          <a:solidFill xmlns:a="http://schemas.openxmlformats.org/drawingml/2006/main">
            <a:srgbClr val="14321D"/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E550C64-BA99-4A7B-802A-CB161986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8815" y="7341870"/>
            <a:ext cx="3103245" cy="3562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700"/>
              </a:lnSpc>
              <a:buNone/>
            </a:pPr>
            <a:r>
              <a:rPr sz="225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Vamos construir?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851AB4FA-7116-426E-8AFD-A8DA13B1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50440" y="9399270"/>
            <a:ext cx="1531620" cy="2705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2160"/>
              </a:lnSpc>
              <a:buNone/>
            </a:pPr>
            <a:r>
              <a:rPr sz="1800" b="1">
                <a:solidFill>
                  <a:srgbClr val="686868"/>
                </a:solidFill>
                <a:latin typeface="Arial Bold"/>
                <a:ea typeface="Arial Bold"/>
                <a:cs typeface="Arial Bold"/>
              </a:rPr>
              <a:t>Perguntas</a:t>
            </a:r>
          </a:p>
        </p:txBody>
      </p:sp>
    </p:spTree>
    <p:extLst>
      <p:ext uri="{BB962C8B-B14F-4D97-AF65-F5344CB8AC3E}">
        <p14:creationId xmlns:p14="http://schemas.microsoft.com/office/powerpoint/2010/main" val="138632568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2026-10-08T17:17:18.0280000Z</dcterms:created>
  <dcterms:modified xsi:type="dcterms:W3CDTF">2026-10-08T17:17:18.0280000Z</dcterms:modified>
</coreProperties>
</file>