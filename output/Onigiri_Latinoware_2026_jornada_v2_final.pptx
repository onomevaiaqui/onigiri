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8961d2535a4e5d" /><Relationship Type="http://schemas.openxmlformats.org/officeDocument/2006/relationships/extended-properties" Target="/docProps/app.xml" Id="R518d25713bd6434d" /><Relationship Type="http://schemas.openxmlformats.org/officeDocument/2006/relationships/officeDocument" Target="/ppt/presentation.xml" Id="R0eb2bd182cb6410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3161c9e5f7c47ce"/>
  </p:sldMasterIdLst>
  <p:notesMasterIdLst>
    <p:notesMasterId xmlns:r="http://schemas.openxmlformats.org/officeDocument/2006/relationships" r:id="Rf3784fe80d3c473d"/>
  </p:notesMasterIdLst>
  <p:sldIdLst>
    <p:sldId xmlns:r="http://schemas.openxmlformats.org/officeDocument/2006/relationships" id="256" r:id="Rfe1608e8f2dc4325"/>
    <p:sldId xmlns:r="http://schemas.openxmlformats.org/officeDocument/2006/relationships" id="257" r:id="Rf6d8465deed7495f"/>
    <p:sldId xmlns:r="http://schemas.openxmlformats.org/officeDocument/2006/relationships" id="258" r:id="R71227eba01854ba0"/>
    <p:sldId xmlns:r="http://schemas.openxmlformats.org/officeDocument/2006/relationships" id="259" r:id="R3078265b062d46f7"/>
    <p:sldId xmlns:r="http://schemas.openxmlformats.org/officeDocument/2006/relationships" id="260" r:id="R630cbf5875ec4f1a"/>
    <p:sldId xmlns:r="http://schemas.openxmlformats.org/officeDocument/2006/relationships" id="261" r:id="R707b95f0107a4260"/>
    <p:sldId xmlns:r="http://schemas.openxmlformats.org/officeDocument/2006/relationships" id="262" r:id="R6458854df32749bb"/>
    <p:sldId xmlns:r="http://schemas.openxmlformats.org/officeDocument/2006/relationships" id="263" r:id="R21e3ea3e712646fa"/>
    <p:sldId xmlns:r="http://schemas.openxmlformats.org/officeDocument/2006/relationships" id="264" r:id="R1b25fe73fde24624"/>
    <p:sldId xmlns:r="http://schemas.openxmlformats.org/officeDocument/2006/relationships" id="265" r:id="Rd8cd4059206f4c18"/>
    <p:sldId xmlns:r="http://schemas.openxmlformats.org/officeDocument/2006/relationships" id="266" r:id="R2139540f736f479f"/>
    <p:sldId xmlns:r="http://schemas.openxmlformats.org/officeDocument/2006/relationships" id="267" r:id="Ra629faf742ee4a10"/>
    <p:sldId xmlns:r="http://schemas.openxmlformats.org/officeDocument/2006/relationships" id="268" r:id="R65507af709d8415c"/>
    <p:sldId xmlns:r="http://schemas.openxmlformats.org/officeDocument/2006/relationships" id="269" r:id="Re59a12db1625475e"/>
    <p:sldId xmlns:r="http://schemas.openxmlformats.org/officeDocument/2006/relationships" id="270" r:id="R5d9637ba06a3412f"/>
  </p:sldIdLst>
  <p:sldSz cx="18288000" cy="10287000"/>
  <p:notesSz cx="6858000" cy="9144000"/>
  <p:embeddedFontLst>
    <p:embeddedFont>
      <p:font typeface="Arial Bold"/>
      <p:regular xmlns:r="http://schemas.openxmlformats.org/officeDocument/2006/relationships" r:id="R80db232113754dfd"/>
    </p:embeddedFont>
    <p:embeddedFont>
      <p:font typeface="Arial"/>
      <p:regular xmlns:r="http://schemas.openxmlformats.org/officeDocument/2006/relationships" r:id="R6842121f84014132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777a7b8944ea7" /><Relationship Type="http://schemas.openxmlformats.org/officeDocument/2006/relationships/slideMaster" Target="/ppt/slideMasters/slideMaster1.xml" Id="Rd3161c9e5f7c47ce" /><Relationship Type="http://schemas.openxmlformats.org/officeDocument/2006/relationships/notesMaster" Target="/ppt/notesMasters/notesMaster1.xml" Id="Rf3784fe80d3c473d" /><Relationship Type="http://schemas.openxmlformats.org/officeDocument/2006/relationships/presProps" Target="/ppt/presProps.xml" Id="R128022e029504a92" /><Relationship Type="http://schemas.openxmlformats.org/officeDocument/2006/relationships/viewProps" Target="/ppt/viewProps.xml" Id="Rf8a8cca03dba40fb" /><Relationship Type="http://schemas.openxmlformats.org/officeDocument/2006/relationships/tableStyles" Target="/ppt/tableStyles.xml" Id="Ra49081558c9d43ed" /><Relationship Type="http://schemas.openxmlformats.org/officeDocument/2006/relationships/font" Target="/ppt/fonts/font.dat" Id="R80db232113754dfd" /><Relationship Type="http://schemas.openxmlformats.org/officeDocument/2006/relationships/font" Target="/ppt/fonts/font2.dat" Id="R6842121f84014132" /><Relationship Type="http://schemas.openxmlformats.org/officeDocument/2006/relationships/slide" Target="/ppt/slides/slide1.xml" Id="Rfe1608e8f2dc4325" /><Relationship Type="http://schemas.openxmlformats.org/officeDocument/2006/relationships/slide" Target="/ppt/slides/slide2.xml" Id="Rf6d8465deed7495f" /><Relationship Type="http://schemas.openxmlformats.org/officeDocument/2006/relationships/slide" Target="/ppt/slides/slide3.xml" Id="R71227eba01854ba0" /><Relationship Type="http://schemas.openxmlformats.org/officeDocument/2006/relationships/slide" Target="/ppt/slides/slide4.xml" Id="R3078265b062d46f7" /><Relationship Type="http://schemas.openxmlformats.org/officeDocument/2006/relationships/slide" Target="/ppt/slides/slide5.xml" Id="R630cbf5875ec4f1a" /><Relationship Type="http://schemas.openxmlformats.org/officeDocument/2006/relationships/slide" Target="/ppt/slides/slide6.xml" Id="R707b95f0107a4260" /><Relationship Type="http://schemas.openxmlformats.org/officeDocument/2006/relationships/slide" Target="/ppt/slides/slide7.xml" Id="R6458854df32749bb" /><Relationship Type="http://schemas.openxmlformats.org/officeDocument/2006/relationships/slide" Target="/ppt/slides/slide8.xml" Id="R21e3ea3e712646fa" /><Relationship Type="http://schemas.openxmlformats.org/officeDocument/2006/relationships/slide" Target="/ppt/slides/slide9.xml" Id="R1b25fe73fde24624" /><Relationship Type="http://schemas.openxmlformats.org/officeDocument/2006/relationships/slide" Target="/ppt/slides/slide10.xml" Id="Rd8cd4059206f4c18" /><Relationship Type="http://schemas.openxmlformats.org/officeDocument/2006/relationships/slide" Target="/ppt/slides/slide11.xml" Id="R2139540f736f479f" /><Relationship Type="http://schemas.openxmlformats.org/officeDocument/2006/relationships/slide" Target="/ppt/slides/slide12.xml" Id="Ra629faf742ee4a10" /><Relationship Type="http://schemas.openxmlformats.org/officeDocument/2006/relationships/slide" Target="/ppt/slides/slide13.xml" Id="R65507af709d8415c" /><Relationship Type="http://schemas.openxmlformats.org/officeDocument/2006/relationships/slide" Target="/ppt/slides/slide14.xml" Id="Re59a12db1625475e" /><Relationship Type="http://schemas.openxmlformats.org/officeDocument/2006/relationships/slide" Target="/ppt/slides/slide15.xml" Id="R5d9637ba06a341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a9a9346029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ee62c32d0645ec" /><Relationship Type="http://schemas.openxmlformats.org/officeDocument/2006/relationships/notesMaster" Target="/ppt/notesMasters/notesMaster1.xml" Id="R45bffd7dfabc43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256a9f578b42e5" /><Relationship Type="http://schemas.openxmlformats.org/officeDocument/2006/relationships/notesMaster" Target="/ppt/notesMasters/notesMaster1.xml" Id="R6ddbc209b0ff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4fecd356754b58" /><Relationship Type="http://schemas.openxmlformats.org/officeDocument/2006/relationships/notesMaster" Target="/ppt/notesMasters/notesMaster1.xml" Id="Rf4894b6bbbba48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4fc65144a641b9" /><Relationship Type="http://schemas.openxmlformats.org/officeDocument/2006/relationships/notesMaster" Target="/ppt/notesMasters/notesMaster1.xml" Id="R8defc917c5284c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5dd13e96e54182" /><Relationship Type="http://schemas.openxmlformats.org/officeDocument/2006/relationships/notesMaster" Target="/ppt/notesMasters/notesMaster1.xml" Id="R6fbe96f416c840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941643f9714d6f" /><Relationship Type="http://schemas.openxmlformats.org/officeDocument/2006/relationships/notesMaster" Target="/ppt/notesMasters/notesMaster1.xml" Id="R4685979157a24f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887b93641142f7" /><Relationship Type="http://schemas.openxmlformats.org/officeDocument/2006/relationships/notesMaster" Target="/ppt/notesMasters/notesMaster1.xml" Id="Ra8f51cc218bf4c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99e33c98c14a7f" /><Relationship Type="http://schemas.openxmlformats.org/officeDocument/2006/relationships/notesMaster" Target="/ppt/notesMasters/notesMaster1.xml" Id="R01a3a8ece1e34c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8127cceab44dd" /><Relationship Type="http://schemas.openxmlformats.org/officeDocument/2006/relationships/notesMaster" Target="/ppt/notesMasters/notesMaster1.xml" Id="R221fec480e8442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80fd2749c44da2" /><Relationship Type="http://schemas.openxmlformats.org/officeDocument/2006/relationships/notesMaster" Target="/ppt/notesMasters/notesMaster1.xml" Id="R62d8f006bce447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3f4b5afded4824" /><Relationship Type="http://schemas.openxmlformats.org/officeDocument/2006/relationships/notesMaster" Target="/ppt/notesMasters/notesMaster1.xml" Id="R90a87e2a5a5644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28b682cd9b4420" /><Relationship Type="http://schemas.openxmlformats.org/officeDocument/2006/relationships/notesMaster" Target="/ppt/notesMasters/notesMaster1.xml" Id="R65dc96f65ac84f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06038cc4be47eb" /><Relationship Type="http://schemas.openxmlformats.org/officeDocument/2006/relationships/notesMaster" Target="/ppt/notesMasters/notesMaster1.xml" Id="Rb5d24b3a1e8649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3149c69e834bb8" /><Relationship Type="http://schemas.openxmlformats.org/officeDocument/2006/relationships/notesMaster" Target="/ppt/notesMasters/notesMaster1.xml" Id="R4d8321d884af4d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0af4a6a5184949" /><Relationship Type="http://schemas.openxmlformats.org/officeDocument/2006/relationships/notesMaster" Target="/ppt/notesMasters/notesMaster1.xml" Id="Rd6ad4778853048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nome e o formato do robô. A palestra não começa pelo ROS: começa por uma necessidade humana e mostra como tecnologias abertas se conectam até virar uma solução.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exemplos do próprio evento: recepção, auditório, banheiro, oficina ou estande. Evite prometer uma tecnologia assistiva certificada; apresente o projeto como orientação inclusiva em evolução.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a jornada completa do visitante. Esta é a demonstração que dará sentido a todas as camadas técnicas apresentadas nos próximos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uma foto real ou render do protótipo quando estiver disponível. Explique que o nome Oniguiri nasceu do formato triangular — uma identidade fácil de lembrar e coerente com a mecânica.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software de código aberto, documentação pública e open hardware. A abertura do Oniguiri deve alcançar o objeto físico, as decisões de projeto e os materiais para reprodução.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 Source Hardware Association — Definition: https://www.oshwa.org/definition/</a:t>
            </a:r>
          </a:p>
          <a:p xmlns:a="http://schemas.openxmlformats.org/drawingml/2006/main">
            <a:r>
              <a:t>- Open Source Initiative — Open Source Definition: https://opensource.org/osd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esta arquitetura como o mapa mental da palestra. Ela evita que o projeto fique preso a uma placa, sensor ou fabricante específico.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separação entre alimentação lógica e potência. O botão de emergência deve interromper fisicamente a energia dos motores; fusível e proteção da bateria completam a camada elétrica básica.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entre imediatamente nas equações. Demonstre as direções e explique que o controlador transforma velocidade linear em X/Y e rotação em velocidades individuais dos três motores.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ROS 2 como uma infraestrutura de comunicação e organização, e não como um programa único. Cite tópicos como /cmd_vel apenas depois que o público entender o fluxo.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ROS 2 documentation — Concepts: https://docs.ros.org/en/jazzy/Concepts.html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mapa não é uma planta arquitetônica perfeita: é uma representação utilizada para localização e planejamento. Depois de salvo, pontos do mapa recebem nomes compreensíveis para as pessoas.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SLAM Toolbox documentation: https://docs.ros.org/en/ros2_packages/jazzy/api/slam_toolbox/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Dê ao LiDAR o papel principal no primeiro protótipo de navegação. A IMU melhora a estimativa de orientação; sensores ToF complementam a detecção próxima; a câmera pode ganhar funções depois.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ciclo contínuo da navegação. O planejador não envia o robô diretamente ao destino: ele recalcula comandos enquanto novos dados chegam. Destaque a hierarquia de segurança.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Nav2 documentation: https://docs.nav2.org/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o primeiro protótipo, limite os comandos e os destinos. A resposta deve confirmar o destino antes de iniciar o movimento. O controle por voz nunca substitui o botão físico de emergência.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Descreva a demonstração planejada para a Latinoware. Mesmo que alguma parte ainda esteja em desenvolvimento, mostre claramente a evolução e publique os aprendizados, inclusive limitações e falhas.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pergunta inicial: e se o mapa pudesse vir até a pessoa? Encerre mostrando que a solução só permanece útil se puder ser compreendida, reproduzida e adaptada pela comunidade.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de03fcb8840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e9fc059e144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83484f1314a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78674627d4d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04cff3d6047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45951bebc4d5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ab4809d8f4b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deb11607f4c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a5daf2b5048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1cb9393514b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a8c1a63734ae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5A2146-2FF8-41C4-8B9F-F4765EC5DF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3DD3AD-A376-40FF-A2A5-F2160BAFD3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FF989F-615F-490E-A531-D8CFF890EF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5363-1849-40B0-97F9-8D00A5FA32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A5B75F-4BEC-4A0D-B6D7-96CE7B58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5F5C6-728D-43E3-A6F6-1BE69B063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01830D-6A50-4B58-9AFD-2B2406502C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FED571-F25C-4FAD-AA76-D3D862A06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19556E-137B-478B-83BB-FD1325BD5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4E3B0-1356-4817-85DA-BE72F3E4C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7B7768-6076-4FC0-89A9-3CC989EC8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82781B-A5FB-427D-A3C2-58BA89F9EC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718F46-0BD6-4000-8837-02791FDC4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955922-0807-44A8-B014-EB1091B80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9F29C1-0FEA-48E3-B25E-1C5A281266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7FF984-10E8-4845-8E4E-E40B38A19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94F90C-8543-4763-94E3-35A9176149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B0F4D3-140D-4BB4-9ACC-6FC6231D6B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E69C46-8040-4B41-89A1-716149BC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46BF483-8C68-427F-B37F-17946E0BE6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C748C6-FDCC-4E46-8FA1-C65CE328BD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23960F-38ED-46FB-A074-8F90027DE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186DDA-489E-4172-A81D-30586FD44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C66BA4-357B-49AA-89D1-1DA789404E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B371694-6EA4-433E-BE2D-4FE066912C4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5581DE-7F7D-4FED-823F-3E629D5AC5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A170FB2-5C4F-4001-B35A-A489C5A85D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D02239-4080-4296-8E49-594750609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4C340D9-4F21-4474-9E39-05B14FA5E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118E38-91C8-4801-B978-E45F1127F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3C4320A-BAD4-4629-A063-4B5ED9D87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78A26A7-745D-46F1-8384-24B066F9A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A53B81-F0FC-415B-B46F-3C05F1980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6FD4E4B-CF41-4944-B08D-68CCE6322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44B4819-11EC-4CCD-BA4D-38C2A2218A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BB1C37-1E0A-4FF1-8AF3-1320F44D3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3756E-0603-45C2-A594-0904DDBD8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085730-BA69-4959-B2A2-BBAF8B29C3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118B3B-B709-4CAC-B274-5E821A66D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5D871-1A3F-4AC0-878A-7B8F8002B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6C689A-3520-4EBB-BFF1-73C6256BC1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6D82AF7-59E8-4C17-8E6E-E34D15883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1FE739-D1A2-4F66-809A-5098756D7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C1C2D3-1AA1-4CE3-B5E4-ED1AFCB714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FC704F-8DD3-43B6-B362-002D4DB1C4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0BE7FE-2E78-44C7-AE22-8109083F4E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B4773D-D57E-406E-A7C8-C08CEF571D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3ABCE3-2A64-49AD-AA38-EEBC14EA36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99D467-B9BA-41A0-8745-EEF19253F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CB2E86-0AEB-48F6-8087-6AC48FF82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185083-A418-45C0-8FDE-55FC010256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9E338B-7765-4C85-B1E1-196A6D15D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E94A9C-8CCB-4836-AB64-C613518DF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65FB264-E352-404D-B256-1F6FC0E5F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82FDB-5A89-4B8F-86BD-F26A1C82B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9536B1-74E2-4B48-9B39-938E28BA1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5DDEC4-2D27-4E7E-8C2D-24077E436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C0548D-A100-4EDB-8819-AD6558FA36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8058f1153b4519" /><Relationship Type="http://schemas.openxmlformats.org/officeDocument/2006/relationships/slideLayout" Target="/ppt/slideLayouts/slideLayout1.xml" Id="R1187861616e44cb1" /><Relationship Type="http://schemas.openxmlformats.org/officeDocument/2006/relationships/slideLayout" Target="/ppt/slideLayouts/slideLayout2.xml" Id="R1f87152686914e82" /><Relationship Type="http://schemas.openxmlformats.org/officeDocument/2006/relationships/slideLayout" Target="/ppt/slideLayouts/slideLayout3.xml" Id="R294050be0cf8455d" /><Relationship Type="http://schemas.openxmlformats.org/officeDocument/2006/relationships/slideLayout" Target="/ppt/slideLayouts/slideLayout4.xml" Id="R4bc0814f696e4ee1" /><Relationship Type="http://schemas.openxmlformats.org/officeDocument/2006/relationships/slideLayout" Target="/ppt/slideLayouts/slideLayout5.xml" Id="R2a72f4fcc3914f4d" /><Relationship Type="http://schemas.openxmlformats.org/officeDocument/2006/relationships/slideLayout" Target="/ppt/slideLayouts/slideLayout6.xml" Id="R8eb9034a6b6348e0" /><Relationship Type="http://schemas.openxmlformats.org/officeDocument/2006/relationships/slideLayout" Target="/ppt/slideLayouts/slideLayout7.xml" Id="Rc4155a773f04443f" /><Relationship Type="http://schemas.openxmlformats.org/officeDocument/2006/relationships/slideLayout" Target="/ppt/slideLayouts/slideLayout8.xml" Id="R3e5ea56123954634" /><Relationship Type="http://schemas.openxmlformats.org/officeDocument/2006/relationships/slideLayout" Target="/ppt/slideLayouts/slideLayout9.xml" Id="R17ca22a1aa54415b" /><Relationship Type="http://schemas.openxmlformats.org/officeDocument/2006/relationships/slideLayout" Target="/ppt/slideLayouts/slideLayout10.xml" Id="Rb4efd87532e04e81" /><Relationship Type="http://schemas.openxmlformats.org/officeDocument/2006/relationships/slideLayout" Target="/ppt/slideLayouts/slideLayout11.xml" Id="R46cdc0005de143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324EB3-4592-4C36-91CC-5A1CBBB86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DC1243-724F-4D0F-A4D4-201B5BAE0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3EDEE1-9F0A-4881-8660-D9E2F13A325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945BCC-E028-47B3-84D4-8BAE3F5571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75D370-79B2-4885-A31C-9A9F739E0F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87861616e44cb1"/>
    <p:sldLayoutId xmlns:r="http://schemas.openxmlformats.org/officeDocument/2006/relationships" id="2147483650" r:id="R1f87152686914e82"/>
    <p:sldLayoutId xmlns:r="http://schemas.openxmlformats.org/officeDocument/2006/relationships" id="2147483651" r:id="R294050be0cf8455d"/>
    <p:sldLayoutId xmlns:r="http://schemas.openxmlformats.org/officeDocument/2006/relationships" id="2147483652" r:id="R4bc0814f696e4ee1"/>
    <p:sldLayoutId xmlns:r="http://schemas.openxmlformats.org/officeDocument/2006/relationships" id="2147483653" r:id="R2a72f4fcc3914f4d"/>
    <p:sldLayoutId xmlns:r="http://schemas.openxmlformats.org/officeDocument/2006/relationships" id="2147483654" r:id="R8eb9034a6b6348e0"/>
    <p:sldLayoutId xmlns:r="http://schemas.openxmlformats.org/officeDocument/2006/relationships" id="2147483655" r:id="Rc4155a773f04443f"/>
    <p:sldLayoutId xmlns:r="http://schemas.openxmlformats.org/officeDocument/2006/relationships" id="2147483656" r:id="R3e5ea56123954634"/>
    <p:sldLayoutId xmlns:r="http://schemas.openxmlformats.org/officeDocument/2006/relationships" id="2147483657" r:id="R17ca22a1aa54415b"/>
    <p:sldLayoutId xmlns:r="http://schemas.openxmlformats.org/officeDocument/2006/relationships" id="2147483658" r:id="Rb4efd87532e04e81"/>
    <p:sldLayoutId xmlns:r="http://schemas.openxmlformats.org/officeDocument/2006/relationships" id="2147483659" r:id="R46cdc0005de1433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7711984e00498a" /><Relationship Type="http://schemas.openxmlformats.org/officeDocument/2006/relationships/image" Target="/ppt/media/image.png" Id="R2eada985af9d4792" /><Relationship Type="http://schemas.openxmlformats.org/officeDocument/2006/relationships/notesSlide" Target="/ppt/notesSlides/notesSlide1.xml" Id="R73cddeebb999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6949544fb64b1b" /><Relationship Type="http://schemas.openxmlformats.org/officeDocument/2006/relationships/notesSlide" Target="/ppt/notesSlides/notesSlide2.xml" Id="R153df5129a3748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50373aa06346f9" /><Relationship Type="http://schemas.openxmlformats.org/officeDocument/2006/relationships/notesSlide" Target="/ppt/notesSlides/notesSlide3.xml" Id="R29719e7e1f984a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c2b77fff00474f" /><Relationship Type="http://schemas.openxmlformats.org/officeDocument/2006/relationships/image" Target="/ppt/media/image.png" Id="Rcea771a618d74380" /><Relationship Type="http://schemas.openxmlformats.org/officeDocument/2006/relationships/notesSlide" Target="/ppt/notesSlides/notesSlide4.xml" Id="R2ce624c6667341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996b1188d54889" /><Relationship Type="http://schemas.openxmlformats.org/officeDocument/2006/relationships/notesSlide" Target="/ppt/notesSlides/notesSlide5.xml" Id="Rb083df2a2f8245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ef230101384903" /><Relationship Type="http://schemas.openxmlformats.org/officeDocument/2006/relationships/notesSlide" Target="/ppt/notesSlides/notesSlide6.xml" Id="R4fec3a26ec5f43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fd92ff7aba4572" /><Relationship Type="http://schemas.openxmlformats.org/officeDocument/2006/relationships/notesSlide" Target="/ppt/notesSlides/notesSlide7.xml" Id="R871c8c7f458c4e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da919f5d9b483a" /><Relationship Type="http://schemas.openxmlformats.org/officeDocument/2006/relationships/notesSlide" Target="/ppt/notesSlides/notesSlide8.xml" Id="R29c97edfa65548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5b71a902d2461f" /><Relationship Type="http://schemas.openxmlformats.org/officeDocument/2006/relationships/notesSlide" Target="/ppt/notesSlides/notesSlide9.xml" Id="R4a8dac9f70e44c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d9918ea3344f91" /><Relationship Type="http://schemas.openxmlformats.org/officeDocument/2006/relationships/notesSlide" Target="/ppt/notesSlides/notesSlide10.xml" Id="R65345edd3a7642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762b73c6524798" /><Relationship Type="http://schemas.openxmlformats.org/officeDocument/2006/relationships/notesSlide" Target="/ppt/notesSlides/notesSlide11.xml" Id="R0963c7e52a1641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29d1aa737d48ab" /><Relationship Type="http://schemas.openxmlformats.org/officeDocument/2006/relationships/notesSlide" Target="/ppt/notesSlides/notesSlide12.xml" Id="R3d3b09cbb5734a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01fb402d5e440a" /><Relationship Type="http://schemas.openxmlformats.org/officeDocument/2006/relationships/notesSlide" Target="/ppt/notesSlides/notesSlide13.xml" Id="Rba5fbe70e1304b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7ba47e151f4f17" /><Relationship Type="http://schemas.openxmlformats.org/officeDocument/2006/relationships/notesSlide" Target="/ppt/notesSlides/notesSlide14.xml" Id="R785166e9534c43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d3d9d54d4d4469" /><Relationship Type="http://schemas.openxmlformats.org/officeDocument/2006/relationships/notesSlide" Target="/ppt/notesSlides/notesSlide15.xml" Id="R0f3a9a11666a43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83D6B8-1998-466A-821E-5104B1F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0125" y="1600200"/>
            <a:ext cx="4143375" cy="4143375"/>
          </a:xfrm>
          <a:custGeom xmlns:a="http://schemas.openxmlformats.org/drawingml/2006/main">
            <a:rect l="l" t="t" r="r" b="b"/>
            <a:pathLst>
              <a:path w="5524500" h="5524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5295900" y="0"/>
                </a:lnTo>
                <a:cubicBezTo>
                  <a:pt x="5422138" y="0"/>
                  <a:pt x="5524500" y="102362"/>
                  <a:pt x="5524500" y="228600"/>
                </a:cubicBezTo>
                <a:lnTo>
                  <a:pt x="5524500" y="5295900"/>
                </a:lnTo>
                <a:cubicBezTo>
                  <a:pt x="5524500" y="5422138"/>
                  <a:pt x="5422138" y="5524500"/>
                  <a:pt x="5295900" y="5524500"/>
                </a:cubicBezTo>
                <a:lnTo>
                  <a:pt x="228600" y="5524500"/>
                </a:lnTo>
                <a:cubicBezTo>
                  <a:pt x="102362" y="5524500"/>
                  <a:pt x="0" y="5422138"/>
                  <a:pt x="0" y="52959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eada985af9d4792"/>
            <a:stretch>
              <a:fillRect l="-89565" t="-24434" r="-126221" b="-53195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344CCCB-DA79-4C5A-870D-6662AF6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12445"/>
            <a:ext cx="7818120" cy="327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PROJETO ABERTO · ROBÓTICA MÓVEL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19AC726-8A46-4D5C-B2A4-E209E1E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360295"/>
            <a:ext cx="3406457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990"/>
              </a:lnSpc>
              <a:buNone/>
            </a:pPr>
            <a:r>
              <a:rPr sz="83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Onigiri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BC8F269-5602-4937-A2DF-E82E943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803333"/>
            <a:ext cx="1010412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80"/>
              </a:lnSpc>
              <a:buNone/>
            </a:pPr>
            <a:r>
              <a:rPr sz="54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do protótipo móvel à</a:t>
            </a:r>
          </a:p>
          <a:p xmlns:a="http://schemas.openxmlformats.org/drawingml/2006/main">
            <a:pPr algn="l">
              <a:lnSpc>
                <a:spcPts val="6480"/>
              </a:lnSpc>
              <a:buNone/>
            </a:pPr>
            <a:r>
              <a:rPr sz="54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autonomia reativa com ROS 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FB88C48-E521-46B0-94AB-046119E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41795"/>
            <a:ext cx="981837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686868"/>
                </a:solidFill>
                <a:latin typeface="Arial"/>
                <a:ea typeface="Arial"/>
                <a:cs typeface="Arial"/>
              </a:rPr>
              <a:t>Uma plataforma aberta para orientação em espaços internos — em desenvolvimento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2463DAF-A4F5-43E7-AD4E-59DED2FD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1590" y="6322695"/>
            <a:ext cx="3560445" cy="403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buNone/>
            </a:pPr>
            <a:r>
              <a:rPr sz="20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LATINOWARE 2026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353FB7F-088A-4874-8E41-C37114C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313545"/>
            <a:ext cx="4103370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686868"/>
                </a:solidFill>
                <a:latin typeface="Arial"/>
                <a:ea typeface="Arial"/>
                <a:cs typeface="Arial"/>
              </a:rPr>
              <a:t>Alex</a:t>
            </a:r>
          </a:p>
        </p:txBody>
      </p:sp>
    </p:spTree>
    <p:extLst>
      <p:ext uri="{BB962C8B-B14F-4D97-AF65-F5344CB8AC3E}">
        <p14:creationId xmlns:p14="http://schemas.microsoft.com/office/powerpoint/2010/main" val="16990466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D033286-3168-4A03-8966-C1229DA2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55349B9-EF0C-4DDF-925F-C0D8EA8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870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Encontrar um lugar ainda pode ser difícil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B3F4D5-3A93-44AB-8DBE-CC7C69D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0F3BE3C-6A90-4109-AF27-F79127E5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33EDD-062A-40C8-9668-93DFA66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55558"/>
            <a:ext cx="15961995" cy="999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Em escolas, empresas e eventos, o visitante precisa transformar placas, mapas e instruções em uma rota.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FD10A57-A794-4E0F-B65A-020D52D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C8E73E-92C8-45E4-9966-CE63A96C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Informação dispersa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22D6ED1-B1A8-4868-BFDA-CCC38DF0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Placas, mapas impressos e orientações verbais nem sempre se conectam.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683F5C-C9A9-442D-92D8-5C4877F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A0AB5-A304-4A25-8662-DD503C8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6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Ambiente desconhecido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DDA5C6-91D9-46BC-A1E7-EAAFFF5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6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Corredores, salas e estandes mudam — especialmente em eventos.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F406EBA-6E6E-4205-8540-2ED992BD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27FD32-9685-4C23-B2B3-3F0C55A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21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Acesso desigual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BCEE1C-9529-45AC-A8ED-CA706BA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21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Idioma, visão, audição, mobilidade e familiaridade digital mudam a experiência.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038728-59C9-4DFE-923B-C63AE61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427720"/>
            <a:ext cx="15819120" cy="613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 se o mapa pudesse vir até a pessoa?</a:t>
            </a:r>
          </a:p>
        </p:txBody>
      </p:sp>
    </p:spTree>
    <p:extLst>
      <p:ext uri="{BB962C8B-B14F-4D97-AF65-F5344CB8AC3E}">
        <p14:creationId xmlns:p14="http://schemas.microsoft.com/office/powerpoint/2010/main" val="1958132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3B959D0-7A7B-45FA-9A9D-C6C8CEDD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3C87C36-061D-4538-9F6F-DE00C9F4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jornada desejada do usuário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AC5CC60-624A-4410-847C-FBCEECA6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920CD4D-E94A-4753-A4E1-0FD0036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38F98D3-6649-4D03-AE59-33288A8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628900"/>
            <a:ext cx="17087850" cy="1885950"/>
          </a:xfrm>
          <a:custGeom xmlns:a="http://schemas.openxmlformats.org/drawingml/2006/main">
            <a:rect l="l" t="t" r="r" b="b"/>
            <a:pathLst>
              <a:path w="22783800" h="25146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22555200" y="0"/>
                </a:lnTo>
                <a:cubicBezTo>
                  <a:pt x="22681437" y="0"/>
                  <a:pt x="22783800" y="102362"/>
                  <a:pt x="22783800" y="228600"/>
                </a:cubicBezTo>
                <a:lnTo>
                  <a:pt x="22783800" y="2286000"/>
                </a:lnTo>
                <a:cubicBezTo>
                  <a:pt x="22783800" y="2412238"/>
                  <a:pt x="22681437" y="2514600"/>
                  <a:pt x="22555200" y="2514600"/>
                </a:cubicBezTo>
                <a:lnTo>
                  <a:pt x="228600" y="2514600"/>
                </a:lnTo>
                <a:cubicBezTo>
                  <a:pt x="102362" y="2514600"/>
                  <a:pt x="0" y="2412238"/>
                  <a:pt x="0" y="22860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4B298DB-B1F4-477E-860A-73BD57D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90" y="3155633"/>
            <a:ext cx="1593342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130"/>
              </a:lnSpc>
              <a:buNone/>
            </a:pPr>
            <a:r>
              <a:rPr sz="4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“Onigiri, me leve ao escritório.”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280C08-3CC8-4C74-A075-6D64CE2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27CD5E-0C43-4564-950E-A66A398E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Chamar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55AFB1-14C0-453B-A3F1-3609CBA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voz ou interface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0F629CD-FDBA-4EA0-9E97-9652BF7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776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DB8864-F76D-4D47-8A81-6D12BC9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Conduzir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60B262-AB76-44AA-B043-7B604A5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“Me siga, por favor.”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B01579-67F9-4274-BF10-40BCCB1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401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47408C-07E7-4C9E-94D7-3835251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54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Chegar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2A44AF-39AB-414D-8E30-E34F91F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54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anunciar “Escritório”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8B1F35A-A1D1-4DF9-9031-E7685F90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026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4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03331AA-BA84-4157-87C9-D82E95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79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Retornar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367A725-B244-42C7-9E5E-9319E2D4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79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15 s sem interação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0F2253-FD45-4D54-80B9-A9E803C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172325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8E08744-FECD-438A-8331-79E44DB2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741920"/>
            <a:ext cx="1553337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 Onigiri deve sair de casa, levar a pessoa ao destino e voltar com segurança.</a:t>
            </a:r>
          </a:p>
        </p:txBody>
      </p:sp>
    </p:spTree>
    <p:extLst>
      <p:ext uri="{BB962C8B-B14F-4D97-AF65-F5344CB8AC3E}">
        <p14:creationId xmlns:p14="http://schemas.microsoft.com/office/powerpoint/2010/main" val="871347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C5B893-F26B-445F-ABCD-472E9B25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FD5AF65-4E03-42B3-B7C2-20ABC2D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628900"/>
            <a:ext cx="6858000" cy="5972175"/>
          </a:xfrm>
          <a:custGeom xmlns:a="http://schemas.openxmlformats.org/drawingml/2006/main">
            <a:rect l="l" t="t" r="r" b="b"/>
            <a:pathLst>
              <a:path w="9144000" h="7962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915400" y="0"/>
                </a:lnTo>
                <a:cubicBezTo>
                  <a:pt x="9041638" y="0"/>
                  <a:pt x="9144000" y="102362"/>
                  <a:pt x="9144000" y="228600"/>
                </a:cubicBezTo>
                <a:lnTo>
                  <a:pt x="9144000" y="7734300"/>
                </a:lnTo>
                <a:cubicBezTo>
                  <a:pt x="9144000" y="7860538"/>
                  <a:pt x="9041638" y="7962900"/>
                  <a:pt x="8915400" y="7962900"/>
                </a:cubicBezTo>
                <a:lnTo>
                  <a:pt x="228600" y="7962900"/>
                </a:lnTo>
                <a:cubicBezTo>
                  <a:pt x="102362" y="7962900"/>
                  <a:pt x="0" y="7860538"/>
                  <a:pt x="0" y="77343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ea771a618d74380"/>
            <a:stretch>
              <a:fillRect l="-33750" t="-1131" r="-57037" b="-22105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E6C3237-845B-45AE-A48B-E125FCFB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6FB1DA3-BA29-448E-85D9-794493B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870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forma também é parte da engenharia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B5B92D6-5E54-44E3-998F-A71A246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9316E06-E8DD-48F2-BADD-66D822B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2827020"/>
            <a:ext cx="8246745" cy="15944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85"/>
              </a:lnSpc>
              <a:buNone/>
            </a:pPr>
            <a:r>
              <a:rPr sz="34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Três pontos de tração, três motores e uma plataforma pronta para movimentos laterais e giros.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34BE4AC-D8CA-46C5-88FF-0DB8CA0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4465320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CEBDDD-1665-4804-9966-A3F510E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4465320"/>
            <a:ext cx="73609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Chassi triangular em evolução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7A0D2E3-084D-4D8D-8FAD-802E1883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5394007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318342D-F032-4940-B451-5E556CA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5394007"/>
            <a:ext cx="73609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M1 dianteiro esquerdo · M2 dianteiro direito · M3 traseiro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4A01A6-55CA-4D94-90A9-3E3ED68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63226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6DED4E-DE72-4A18-866D-6409BB22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6322695"/>
            <a:ext cx="73609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Arquivos mecânicos modificáveis (STEP)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C9AA1BA-5E04-4B10-AAF7-8EF93BA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7251382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0650B4D-C828-428E-9F12-CF1396FF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7251382"/>
            <a:ext cx="73609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modular para testar, documentar e melhorar</a:t>
            </a:r>
          </a:p>
        </p:txBody>
      </p:sp>
    </p:spTree>
    <p:extLst>
      <p:ext uri="{BB962C8B-B14F-4D97-AF65-F5344CB8AC3E}">
        <p14:creationId xmlns:p14="http://schemas.microsoft.com/office/powerpoint/2010/main" val="7962011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8F97097-8198-4423-AB36-611C1E3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92E7B19-9319-4E9B-9EA7-9A91054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Aberto é registrar o que funciona — e o que ainda está sendo aprendido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449E805-F8B7-4935-A51D-D6AA783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EEE54C6-23FD-4F8F-ABFC-A53E3B4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F5C4B1-3C74-4C36-B20D-038441C7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26983"/>
            <a:ext cx="15961995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 Onigiri reúne código, instruções de montagem e decisões técnicas em um repositório público.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7BEE241-D55E-4A3D-8637-193980CD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884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5B8FBCB-41BF-4FB9-8E83-0F335AFF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3884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Mecânica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C7DFA3B-52BA-432D-B20C-1C3B8FA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3893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STEP, impressão 3D e ajustes de montagem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5546E9E-F4D3-45C0-BD0B-BC73F61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4614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BB813C6-D8FF-4ECE-8DC6-3309F0C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027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DE3240-4D3E-4C67-9DE3-3DC97B01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5027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Eletrônica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0B8A15-D7DC-4B8A-8F22-95C3484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5036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alimentação, HAT de motores e lista de componentes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74B911D-E00C-4BD1-BA44-9463746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5757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7D29BD6-A1DD-4C56-A9F7-B69571F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170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D71436-6754-4AC3-A3A3-2C9CE81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6170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Software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17FF659-75F4-4C7A-96E9-218B797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6179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ROS 2, controle, LiDAR e inicialização automática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6F0795-11C8-4E62-8790-E591F640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6900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27BB914-6A67-459D-B209-2F633C23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313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E1F8B14-C4E6-494F-BAD1-EEC89A93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7313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Conhecimento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03DDE5A-7036-44FD-979E-5CF6F82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7322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manual de construção, testes e limitações conhecidas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E147646-32DF-4796-A456-1933640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8043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D9EE5B7-FD42-476F-BC75-8104DF8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884920"/>
            <a:ext cx="15533370" cy="462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Documentar a evolução torna o projeto reproduzível e melhorável.</a:t>
            </a:r>
          </a:p>
        </p:txBody>
      </p:sp>
    </p:spTree>
    <p:extLst>
      <p:ext uri="{BB962C8B-B14F-4D97-AF65-F5344CB8AC3E}">
        <p14:creationId xmlns:p14="http://schemas.microsoft.com/office/powerpoint/2010/main" val="2983777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43710-71C6-4A31-833F-82BFB54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6B0C3AA-EC13-4E42-9C52-F9226FD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8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As camadas que já estão integradas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0A989C3-D71D-45AA-8019-81F9F12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F5C0657-095B-4DE6-890A-2BC34E5A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922C148-19B2-4380-A657-10F500B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2643188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FF8F9-77E7-4DBF-AD02-7C6DED6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2907983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INTERAÇÃO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B3BB0A-67D8-4AEF-96B7-F15E5BB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2898458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Logitech F710 via PC e rede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FED9378-92F1-4C11-86E0-3C69192E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3914775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DDF1DD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D95532F-56DB-4B49-B4EF-1200B9A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4179570"/>
            <a:ext cx="424624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DECISÃO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B5E924-CE9B-48F9-8ED1-5FC93B24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4170045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teleoperação + autonomia reativa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957FA88-93FA-4455-9A78-73EC9C3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5186362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8F5E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7A4062E-EA6A-435F-AAC3-83F5E56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5451157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COMPUTAÇÃO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E49405-F29F-45AF-B826-5793A30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5441632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Raspberry Pi 4 · Ubuntu 24.04 · ROS 2 Jazzy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A7EC7F1-B92C-4A50-BEDF-95552D3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6457950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6B7BC5-524F-4FEB-A1B5-8C4393A0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6722745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PERCEPÇÃO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6E61C9-B817-45B1-BDA1-E4C07D9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6713220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RPLIDAR A1M8 · varredura 2D em 360°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301BC51-C39A-4E9F-9AEC-408B8C8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7729538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2E3E1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B8F42C6-6FCD-430A-8CC4-1BD896C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7994332"/>
            <a:ext cx="424624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MOVIMENTO E SEGURANÇA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3EC523F-ECF3-4180-B8EC-A03FD22E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7984807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3 motores DC · Motor HAT · LiPo 3S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D754A9D-B369-44BB-86D5-0B354F9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565" y="9037320"/>
            <a:ext cx="1381887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integração já funciona; mapa, localização e voz entram como próximas etapas.</a:t>
            </a:r>
          </a:p>
        </p:txBody>
      </p:sp>
    </p:spTree>
    <p:extLst>
      <p:ext uri="{BB962C8B-B14F-4D97-AF65-F5344CB8AC3E}">
        <p14:creationId xmlns:p14="http://schemas.microsoft.com/office/powerpoint/2010/main" val="3445325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F178E5B-2BBA-47DE-91CB-3A150AA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8EB7A47-55C1-48B7-9ABD-E10A83C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Hardware acessível, já testado no protótipo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4E9342E-935E-4D11-8DC7-BF86C96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EE1592C-74BF-4054-9E21-25A1DA9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88149F6-D081-40B0-A479-99BEF40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0358EA-D715-458C-A2EB-87FD714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F15478-0EDC-47B0-939D-27C09CFC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Computação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92F6FD2-F385-4FA0-9327-7CB2A8F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236720"/>
            <a:ext cx="3388995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Raspberry Pi 4 · Ubuntu 24.04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F61518-6037-4193-B08D-EC50FE0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179695"/>
            <a:ext cx="338899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ROS 2 Jazzy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844D78B-5C2A-4724-A17A-02067C7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586A2BC-8F67-4CCA-BC61-A11C2CD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08C5DD8-2DA6-4B52-B948-4DCC866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DE29AA-9F49-4B07-8197-1FD182C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Movimento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4CA608B-E31E-4723-9B4B-01E0E74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4236720"/>
            <a:ext cx="3388995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Motor HAT 5–12 V · 1,2 A/canal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CA56CD-B351-4F5C-8EB5-955236ED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5179695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3 motores DC JGY370 · 12 V · 40 rpm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C3ADD4-AED4-4916-8BE5-9F7103B0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D9CE8EF-7B07-4874-A721-982FF92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C25C6A-714E-4DEF-9A12-3162071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E38128D-3ECD-46E0-9924-514D889F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Energia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275C0F2-DC1D-4DEE-A161-F88ED13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4236720"/>
            <a:ext cx="3388995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LiPo 3S · 11,1 V · 1150 mAh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5EF2219-7A2C-45AE-8162-010201E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5179695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Tobsun EA75-5V para o Raspberry Pi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1C75524-12D6-4FB5-97A7-E6FD9A2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952F47B-6461-43F7-B71D-B14C9A43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02BCE99-2B46-426A-8A91-58B8999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63D6D32-31ED-4805-A6CE-B60E3A6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3484245"/>
            <a:ext cx="338899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Segurança atual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8A00BDB-D50A-44A4-A9A1-F3BD9AC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4236720"/>
            <a:ext cx="3388995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timeout de comando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BF1D5C9-23BE-4E98-A7CD-8FF84A7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5179695"/>
            <a:ext cx="338899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parada na perda do LiDAR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7596DA9-BC78-42CD-AFE0-4C0071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46A3728-8F55-486C-8F50-6AA1AB7B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286625"/>
            <a:ext cx="16216312" cy="1328738"/>
          </a:xfrm>
          <a:custGeom xmlns:a="http://schemas.openxmlformats.org/drawingml/2006/main">
            <a:rect l="l" t="t" r="r" b="b"/>
            <a:pathLst>
              <a:path w="21621750" h="1771650">
                <a:moveTo>
                  <a:pt x="0" y="0"/>
                </a:moveTo>
                <a:lnTo>
                  <a:pt x="21621750" y="0"/>
                </a:lnTo>
                <a:lnTo>
                  <a:pt x="21621750" y="1771650"/>
                </a:lnTo>
                <a:lnTo>
                  <a:pt x="0" y="17716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5BF39E92-D56D-4940-AB29-21D75C0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" y="7622857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Próxima integração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0B4B2C-3FE6-433E-97C7-5B6016F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3378" y="7579995"/>
            <a:ext cx="11961495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botão de emergência e corte físico dos motores.</a:t>
            </a:r>
          </a:p>
        </p:txBody>
      </p:sp>
    </p:spTree>
    <p:extLst>
      <p:ext uri="{BB962C8B-B14F-4D97-AF65-F5344CB8AC3E}">
        <p14:creationId xmlns:p14="http://schemas.microsoft.com/office/powerpoint/2010/main" val="19152801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6EFA2F9-D885-4916-8437-BA45340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38AAB8F-6231-4D2F-B543-B0D8629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Três motores: a base para o movimento omnidirecional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8E3A0F-1E68-4419-8C14-CCE7B7E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426BED3-E64E-46DC-8443-D77AB39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798FB5E-79AE-4BC0-AB86-0DC7B53B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528888"/>
            <a:ext cx="7572375" cy="6200775"/>
          </a:xfrm>
          <a:custGeom xmlns:a="http://schemas.openxmlformats.org/drawingml/2006/main">
            <a:rect l="l" t="t" r="r" b="b"/>
            <a:pathLst>
              <a:path w="10096500" h="8267700">
                <a:moveTo>
                  <a:pt x="0" y="0"/>
                </a:moveTo>
                <a:lnTo>
                  <a:pt x="10096500" y="0"/>
                </a:lnTo>
                <a:lnTo>
                  <a:pt x="10096500" y="8267700"/>
                </a:lnTo>
                <a:lnTo>
                  <a:pt x="0" y="82677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7981A40-AC7E-49C6-ACCE-E26BAC8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25" y="3543300"/>
            <a:ext cx="4200525" cy="3629025"/>
          </a:xfrm>
          <a:custGeom xmlns:a="http://schemas.openxmlformats.org/drawingml/2006/main">
            <a:rect l="l" t="t" r="r" b="b"/>
            <a:pathLst>
              <a:path w="5600700" h="4838700">
                <a:moveTo>
                  <a:pt x="0" y="4838700"/>
                </a:moveTo>
                <a:lnTo>
                  <a:pt x="2800350" y="0"/>
                </a:lnTo>
                <a:lnTo>
                  <a:pt x="5600700" y="48387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7150" cap="sq">
            <a:solidFill>
              <a:srgbClr val="14321D"/>
            </a:solidFill>
            <a:prstDash val="solid"/>
            <a:miter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42C5BBB-0F3D-47D4-864F-DC11900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05752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AA7BA7E-179E-4EBE-A859-64B6675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3378" y="319849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M1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38EB8A1-74C4-42D5-AC5C-4613F35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0238" y="677227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DC6BCC4-2384-4BAD-AEDD-6BBB3FE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1677" y="691324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M2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3C6E210-09EB-4E36-AADF-7A21819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3638" y="677227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F5B24C-BD90-4A14-AB95-4F20DE0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078" y="691324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C39C051-B880-4B17-88AC-103892A4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9065" y="5741670"/>
            <a:ext cx="960120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120°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168032D-61FF-4BC2-BAF9-BA5AFCF6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2688908"/>
            <a:ext cx="7818120" cy="497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5"/>
              </a:lnSpc>
              <a:buNone/>
            </a:pPr>
            <a:r>
              <a:rPr sz="32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Movimentos já validados no protótipo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C17C18-D083-427E-ABEF-B08FCFA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432244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25AF581-1A17-49FC-B37C-62418A2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432244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avançar e recuar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0DE7186-6F57-4412-A96F-E80E3FC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51796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D2D401-117C-4A26-BEAE-740E707C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517969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deslocar lateralmente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180303-0FEB-4954-9E94-1758F8B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603694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984F2F-3F5F-4667-B009-BFB36A6C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603694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girar sobre o próprio eixo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C59981-39E9-496D-9C52-25FA65F4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68941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D95CEF-B1BF-4F0A-85B6-2605529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689419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combinar movimentos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ECBDB01-38E8-4659-A9AE-077721B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8108632"/>
            <a:ext cx="753237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M1: dianteiro esquerdo · M2: dianteiro direito · M3: traseiro.</a:t>
            </a:r>
          </a:p>
        </p:txBody>
      </p:sp>
    </p:spTree>
    <p:extLst>
      <p:ext uri="{BB962C8B-B14F-4D97-AF65-F5344CB8AC3E}">
        <p14:creationId xmlns:p14="http://schemas.microsoft.com/office/powerpoint/2010/main" val="151805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63A1454-EB4C-48AE-B26F-31513A81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A0CAC34-634D-454A-B77F-A0B2033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ROS 2 conecta controle, percepção e segurança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4BC4679-B216-41CC-8AC3-308DB7B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741E19A-7109-4B63-A992-99343AE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EA6C113-8B44-4DC6-A64F-CA39092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8A7B81C-C664-44A4-BFAE-EE6D9B9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562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31EC300-3BB8-466C-8CF1-42F9D4C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0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60E4B0C-73FC-4224-B59C-A3937D20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415277A-1E03-4102-A963-2F482E4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ENTRADA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37B736-BCF5-44AB-A93D-BE2E430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Logitech F710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via PC + rede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A0F4B31-13D9-445F-A5E3-96FF0AB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2012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C4F2A7-2C2F-48E7-879A-93C1298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DECISÃO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0F3517-3B1F-4E82-8EEF-FC938C2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636770"/>
            <a:ext cx="2531745" cy="1131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modo manual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ou autonomia reativa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AB7DC7C-296B-41DC-BBAD-424C797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3950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0247586-4AFC-412F-8E27-CD07602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CONTROLE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3CAB532-76FD-44A3-B67D-15B23F34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UDP + ROS 2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prioridade manual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E54017C-4EDE-4BA5-B324-62983B7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5888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1722D2B-984B-49E3-9D75-8DF745B0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077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HARDWARE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2C24ED4-2772-4146-A61E-A0B3CE8D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077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Motor HAT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I²C + 3 motores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E397182-F9AA-4ADA-8474-9695D8A6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98945"/>
            <a:ext cx="1581912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Nós pequenos, mensagens explícitas e serviços iniciados automaticamente.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6F24979-1B95-4BA3-A3B4-C856297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680007"/>
            <a:ext cx="158191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A mesma base permite evoluir sem reescrever o robô a cada novo componente.</a:t>
            </a:r>
          </a:p>
        </p:txBody>
      </p:sp>
    </p:spTree>
    <p:extLst>
      <p:ext uri="{BB962C8B-B14F-4D97-AF65-F5344CB8AC3E}">
        <p14:creationId xmlns:p14="http://schemas.microsoft.com/office/powerpoint/2010/main" val="16594020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3795D39-E15C-43C0-B67D-23F3FC7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5929868-CEE6-4389-A65E-D8C7A68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Hoje, o LiDAR dá ao robô uma visão circular do ambiente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82AC307-C0FB-4A10-8667-B9FD659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1D905EF-C226-472E-BD23-ACF15E5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94380D8-91CA-4198-873F-7DD18FD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528888"/>
            <a:ext cx="10287000" cy="6357938"/>
          </a:xfrm>
          <a:custGeom xmlns:a="http://schemas.openxmlformats.org/drawingml/2006/main">
            <a:rect l="l" t="t" r="r" b="b"/>
            <a:pathLst>
              <a:path w="13716000" h="8477250">
                <a:moveTo>
                  <a:pt x="0" y="0"/>
                </a:moveTo>
                <a:lnTo>
                  <a:pt x="13716000" y="0"/>
                </a:lnTo>
                <a:lnTo>
                  <a:pt x="13716000" y="8477250"/>
                </a:lnTo>
                <a:lnTo>
                  <a:pt x="0" y="8477250"/>
                </a:lnTo>
                <a:close/>
              </a:path>
            </a:pathLst>
          </a:custGeom>
          <a:solidFill xmlns:a="http://schemas.openxmlformats.org/drawingml/2006/main">
            <a:srgbClr val="F4F4F2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BB4E7E9-AD71-4096-A805-E194D5A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3050381"/>
            <a:ext cx="3729038" cy="1085850"/>
          </a:xfrm>
          <a:custGeom xmlns:a="http://schemas.openxmlformats.org/drawingml/2006/main">
            <a:rect l="l" t="t" r="r" b="b"/>
            <a:pathLst>
              <a:path w="4972050" h="1447800">
                <a:moveTo>
                  <a:pt x="0" y="0"/>
                </a:moveTo>
                <a:lnTo>
                  <a:pt x="4972050" y="0"/>
                </a:lnTo>
                <a:lnTo>
                  <a:pt x="4972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5111E6B-5B66-4204-82F8-1C3E42C9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64981" y="3050381"/>
            <a:ext cx="4586288" cy="1085850"/>
          </a:xfrm>
          <a:custGeom xmlns:a="http://schemas.openxmlformats.org/drawingml/2006/main">
            <a:rect l="l" t="t" r="r" b="b"/>
            <a:pathLst>
              <a:path w="6115050" h="1447800">
                <a:moveTo>
                  <a:pt x="0" y="0"/>
                </a:moveTo>
                <a:lnTo>
                  <a:pt x="6115050" y="0"/>
                </a:lnTo>
                <a:lnTo>
                  <a:pt x="6115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7B0B354-FE13-4159-BD72-5B190C5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4850606"/>
            <a:ext cx="3157538" cy="1514475"/>
          </a:xfrm>
          <a:custGeom xmlns:a="http://schemas.openxmlformats.org/drawingml/2006/main">
            <a:rect l="l" t="t" r="r" b="b"/>
            <a:pathLst>
              <a:path w="4210050" h="2019300">
                <a:moveTo>
                  <a:pt x="0" y="0"/>
                </a:moveTo>
                <a:lnTo>
                  <a:pt x="4210050" y="0"/>
                </a:lnTo>
                <a:lnTo>
                  <a:pt x="421005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6DCC04-C539-47AD-A365-9056192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3481" y="4993481"/>
            <a:ext cx="2228850" cy="2728912"/>
          </a:xfrm>
          <a:custGeom xmlns:a="http://schemas.openxmlformats.org/drawingml/2006/main">
            <a:rect l="l" t="t" r="r" b="b"/>
            <a:pathLst>
              <a:path w="2971800" h="3638550">
                <a:moveTo>
                  <a:pt x="0" y="0"/>
                </a:moveTo>
                <a:lnTo>
                  <a:pt x="2971800" y="0"/>
                </a:lnTo>
                <a:lnTo>
                  <a:pt x="2971800" y="3638550"/>
                </a:lnTo>
                <a:lnTo>
                  <a:pt x="0" y="36385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37BAB5B-10B5-4B98-9C4E-07FC622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3856" y="4850606"/>
            <a:ext cx="2157412" cy="1300162"/>
          </a:xfrm>
          <a:custGeom xmlns:a="http://schemas.openxmlformats.org/drawingml/2006/main">
            <a:rect l="l" t="t" r="r" b="b"/>
            <a:pathLst>
              <a:path w="2876550" h="1733550">
                <a:moveTo>
                  <a:pt x="0" y="0"/>
                </a:moveTo>
                <a:lnTo>
                  <a:pt x="2876550" y="0"/>
                </a:lnTo>
                <a:lnTo>
                  <a:pt x="2876550" y="1733550"/>
                </a:lnTo>
                <a:lnTo>
                  <a:pt x="0" y="1733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37B20B0-51D3-4CD7-81BE-DFC1237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7136606"/>
            <a:ext cx="3157538" cy="1085850"/>
          </a:xfrm>
          <a:custGeom xmlns:a="http://schemas.openxmlformats.org/drawingml/2006/main">
            <a:rect l="l" t="t" r="r" b="b"/>
            <a:pathLst>
              <a:path w="4210050" h="1447800">
                <a:moveTo>
                  <a:pt x="0" y="0"/>
                </a:moveTo>
                <a:lnTo>
                  <a:pt x="4210050" y="0"/>
                </a:lnTo>
                <a:lnTo>
                  <a:pt x="4210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5C9BC79-964B-4E06-96AF-2D89ED8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3856" y="6993731"/>
            <a:ext cx="2157412" cy="1228725"/>
          </a:xfrm>
          <a:custGeom xmlns:a="http://schemas.openxmlformats.org/drawingml/2006/main">
            <a:rect l="l" t="t" r="r" b="b"/>
            <a:pathLst>
              <a:path w="2876550" h="1638300">
                <a:moveTo>
                  <a:pt x="0" y="0"/>
                </a:moveTo>
                <a:lnTo>
                  <a:pt x="2876550" y="0"/>
                </a:lnTo>
                <a:lnTo>
                  <a:pt x="2876550" y="1638300"/>
                </a:lnTo>
                <a:lnTo>
                  <a:pt x="0" y="1638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FB37D08-160D-423F-8D7F-17D981F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0190" y="3427095"/>
            <a:ext cx="238887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LEITURA 360°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4581E2E-3074-45D1-A812-555FDF00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3427095"/>
            <a:ext cx="32461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ZONAS DE SEGURANÇA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D5242-705F-4FE0-A41A-1812832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752" y="5427345"/>
            <a:ext cx="217455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DESVIO REATIVO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41A8AA-540E-4BB3-9681-21DEAC6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253" y="5884545"/>
            <a:ext cx="1317308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LiDAR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/scan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23AFCF6-C796-419A-9FA8-1F9D098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4788" y="4057650"/>
            <a:ext cx="371475" cy="371475"/>
          </a:xfrm>
          <a:custGeom xmlns:a="http://schemas.openxmlformats.org/drawingml/2006/main">
            <a:rect l="l" t="t" r="r" b="b"/>
            <a:pathLst>
              <a:path w="495300" h="4953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266700" y="0"/>
                </a:lnTo>
                <a:cubicBezTo>
                  <a:pt x="392938" y="0"/>
                  <a:pt x="495300" y="102362"/>
                  <a:pt x="495300" y="228600"/>
                </a:cubicBezTo>
                <a:lnTo>
                  <a:pt x="495300" y="266700"/>
                </a:lnTo>
                <a:cubicBezTo>
                  <a:pt x="495300" y="392938"/>
                  <a:pt x="392938" y="495300"/>
                  <a:pt x="266700" y="495300"/>
                </a:cubicBezTo>
                <a:lnTo>
                  <a:pt x="228600" y="495300"/>
                </a:lnTo>
                <a:cubicBezTo>
                  <a:pt x="102362" y="495300"/>
                  <a:pt x="0" y="392938"/>
                  <a:pt x="0" y="2667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E0C77F0-A192-4A6D-BB25-18F4EB3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7653" y="4012883"/>
            <a:ext cx="245745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>
                <a:solidFill>
                  <a:srgbClr val="65C466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02EE72E-6C22-4A2B-9B0D-DC8E9503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2912745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RPLIDAR A1M8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0887D03-C232-4334-B96C-0DA423E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3484245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publica /scan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165D91F-43CE-43EB-8BB5-6E5FDA9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7188" y="4286250"/>
            <a:ext cx="4714875" cy="14288"/>
          </a:xfrm>
          <a:custGeom xmlns:a="http://schemas.openxmlformats.org/drawingml/2006/main">
            <a:rect l="l" t="t" r="r" b="b"/>
            <a:pathLst>
              <a:path w="6286500" h="19050">
                <a:moveTo>
                  <a:pt x="0" y="0"/>
                </a:moveTo>
                <a:lnTo>
                  <a:pt x="6286500" y="0"/>
                </a:lnTo>
                <a:lnTo>
                  <a:pt x="6286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D069EB8-FD46-479E-9412-9928A620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4784408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frente crítica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D48A443-3DF5-4F85-A8A6-F97CCAD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5355908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parar ou desviar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1729BD2-A609-4F6C-8CFB-435539B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7188" y="6143625"/>
            <a:ext cx="4714875" cy="14288"/>
          </a:xfrm>
          <a:custGeom xmlns:a="http://schemas.openxmlformats.org/drawingml/2006/main">
            <a:rect l="l" t="t" r="r" b="b"/>
            <a:pathLst>
              <a:path w="6286500" h="19050">
                <a:moveTo>
                  <a:pt x="0" y="0"/>
                </a:moveTo>
                <a:lnTo>
                  <a:pt x="6286500" y="0"/>
                </a:lnTo>
                <a:lnTo>
                  <a:pt x="6286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3293CC-5221-4EA0-9A62-2CA3F44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6641782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lado mais livre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72CEF8-B20F-45D4-9FD4-A94AB68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7213282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 desviar</a:t>
            </a:r>
          </a:p>
        </p:txBody>
      </p:sp>
    </p:spTree>
    <p:extLst>
      <p:ext uri="{BB962C8B-B14F-4D97-AF65-F5344CB8AC3E}">
        <p14:creationId xmlns:p14="http://schemas.microsoft.com/office/powerpoint/2010/main" val="150203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E9AEE4F-6434-4E5A-BCF7-6AD2890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CE2FABA-8958-4660-A28B-3FC9787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Percepção atual: LiDAR ativo. Sensores extras: evolução planejada.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9342081-3788-46E6-8569-D1385FF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815874-29F8-4C17-B2B9-31D0817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C1D3CF8-423B-4747-9FEA-A39A9E0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98420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RPLIDAR A1M8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8376EB1-A54D-4E76-9BD0-08FDF4A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2607945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varredura 2D em 360°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B7D272C-3C97-4998-BF88-2199A4D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2607945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parada e desvio reativo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B182151-11D1-4832-8C10-2B71B91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457575"/>
            <a:ext cx="16216312" cy="57150"/>
          </a:xfrm>
          <a:custGeom xmlns:a="http://schemas.openxmlformats.org/drawingml/2006/main">
            <a:rect l="l" t="t" r="r" b="b"/>
            <a:pathLst>
              <a:path w="21621750" h="76200">
                <a:moveTo>
                  <a:pt x="0" y="0"/>
                </a:moveTo>
                <a:lnTo>
                  <a:pt x="21621750" y="0"/>
                </a:lnTo>
                <a:lnTo>
                  <a:pt x="2162175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BDF8CE-E54A-4935-93B8-3C908A0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055745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Câmera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DD99C9-E74A-4988-9068-48F1BF8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4065270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webcam disponível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237962-6DDB-4288-AD07-50FEB66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4065270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DA1F88B-C2EC-4BD9-A58F-EE9D414A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4914900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F2B52F-1F40-4775-88FB-5DAB585A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513070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ToF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3D8DF9-B420-4648-AEC1-97422B80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5522595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proteção próxima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F76733-8780-4626-A65B-52DBD7C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5522595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2FE2834-9F09-4C20-BDE8-ED74A43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372225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4D0DCAF-054D-4A19-AD85-5C11ABD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970395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IMU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CD111D-238C-4130-8700-6968659E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6979920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orientação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D7145AE-C0B5-4B4F-BC9A-CBB17BF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6979920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1F6DA48-916B-47D6-A296-5D427AB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829550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5FC02B51-50BD-40FF-B63B-544AF8E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784907"/>
            <a:ext cx="1581912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Hoje, o LiDAR é o sensor ativo da autonomia. Cada novo sensor será integrado e validado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9691432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F0BB091-19E6-4E7A-9B72-A219F61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FC6F631-197B-4D12-9083-F655EE3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Autonomia reativa: segura antes de ser completa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7ED8FD0-2FB5-41B9-8B09-07C4056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5AD4524-A25D-4493-AE61-3C41402A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090AE8C-85D0-4D33-A6DE-4D33C3E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423BB27-C1B2-497F-B2DD-C968B29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169864-C3D1-4FF9-A11F-8BBF72F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Ler o LiDAR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82CD58-523B-4B51-B1C9-DD92A4A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/scan atualizado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a cada varredura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C931501-E804-45DE-9F82-1C8E30B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E3D603A-C4B0-4E49-9A0A-8E25CF5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0600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52BDA84-A8D7-4628-B2E7-B164259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Avaliar a frente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EDF0FB-834F-4BD4-B0B5-112841F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0,35 m: parar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0,80 m: desviar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7C72CC-9875-4A12-9717-8D6D897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0F43546-9E3B-48CE-8342-9E99F5A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1125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AC3746-4959-42C4-9487-16DF49A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Escolher o desvio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631F104-BE96-4205-A87C-7C1E0A04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comparar esquerda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e direita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004C6643-1193-4C46-9950-942C47D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76A7A7D-ACFF-49E0-B6A7-A9E9EC9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01650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F6C7983-6BE4-4810-9A0B-ABCC373A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Mover ou parar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BF0FE24-4E04-4942-9044-DB4289B2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LiDAR ausente, timeout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ou risco: parada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B9EA852-D715-4B18-8642-0389C12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015162"/>
            <a:ext cx="16216312" cy="1428750"/>
          </a:xfrm>
          <a:custGeom xmlns:a="http://schemas.openxmlformats.org/drawingml/2006/main">
            <a:rect l="l" t="t" r="r" b="b"/>
            <a:pathLst>
              <a:path w="21621750" h="1905000">
                <a:moveTo>
                  <a:pt x="0" y="0"/>
                </a:moveTo>
                <a:lnTo>
                  <a:pt x="21621750" y="0"/>
                </a:lnTo>
                <a:lnTo>
                  <a:pt x="21621750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8A8DF44-6860-4D59-8CDE-F7606FE4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7408545"/>
            <a:ext cx="4960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Prioridade de segurança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B2080CA-05ED-4266-AEB2-77171934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065" y="7394257"/>
            <a:ext cx="981837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parada por risco → comando manual → autonomia habilitada</a:t>
            </a:r>
          </a:p>
        </p:txBody>
      </p:sp>
    </p:spTree>
    <p:extLst>
      <p:ext uri="{BB962C8B-B14F-4D97-AF65-F5344CB8AC3E}">
        <p14:creationId xmlns:p14="http://schemas.microsoft.com/office/powerpoint/2010/main" val="11395834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CD6CAD2-2550-4690-8004-0218D79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2D28FA5-467B-46E7-BB1B-AFEBBBF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Voz é a próxima interface — não o cérebro do robô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24CC268-D98C-4212-96A0-95101FDD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E8EE3E1-269F-49D8-A88F-9C8646A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9A4CE13-3744-42CD-A25F-12E96C3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98420"/>
            <a:ext cx="8389620" cy="713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“Onde fica o auditório?”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85030B7-7058-494A-ACDB-EE8F4A5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009AE797-D041-48FA-BAA9-E33C39B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562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D2FE0E5-32B2-4040-8B21-6A157E9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44375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DF00528-4A3F-4F9B-98DB-12FBED7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DD2B08-BE56-407D-BADF-BA693EC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OUVIR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716B838-766A-4E52-B459-4E97061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microfone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(próxima etapa)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FBB2DE0-8E56-4569-B6B8-47571E9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DE9C417-3B90-45E5-BFC7-EC277C5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503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RECONHECER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FBD2003-EB52-4DB7-B0A5-4BBD3C33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503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fala → texto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(a validar)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A40969A-FCC6-45F9-AEBA-65A1016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A300869-F492-4396-A5EF-8BAC923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15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ENTENDER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0DA07EF-EB2C-4FCD-A991-36776A4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15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intenção + destino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(futuro)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BD37452-8D69-478B-9B29-1A8E13B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58650EE-977F-4CD9-B173-515DEA5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7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AGIR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86B028A-925E-41C5-A2A9-22BA2FF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7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navegação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por mapa (futuro)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1E616C2-CBDC-487C-B8EE-07B3FC2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98945"/>
            <a:ext cx="15676245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interface de voz só entra depois que mapa, navegação e segurança estiverem validados.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21CFEBB-5B3D-429C-A460-1CD914A5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856220"/>
            <a:ext cx="160020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192B135-3BEE-49EA-8C0B-D211BC5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" y="7856220"/>
            <a:ext cx="7075170" cy="64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vocabulário limitado aumenta a confiabilidade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329F02-3CBE-4421-8956-92E6A21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7856220"/>
            <a:ext cx="160020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B7134AB-DC90-418A-8C09-990228D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7856220"/>
            <a:ext cx="7218045" cy="64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confirmação evita destinos interpretados incorretamente</a:t>
            </a:r>
          </a:p>
        </p:txBody>
      </p:sp>
    </p:spTree>
    <p:extLst>
      <p:ext uri="{BB962C8B-B14F-4D97-AF65-F5344CB8AC3E}">
        <p14:creationId xmlns:p14="http://schemas.microsoft.com/office/powerpoint/2010/main" val="12272067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B64F62C-4279-4539-BC0E-77F8D7C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E72EBBE-134E-4F61-869D-2BA8A353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Marcos do protótipo até o robô-guia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398A8B-8E0A-46B8-9F82-8B64940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1CC8D62-5940-44AB-806D-2CB43B2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5E268C1-DF36-44F3-A998-F34127B8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A57D8A8-2AB7-40F3-8577-B976E2C2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MOVER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F6CA00E-8FDC-4A9A-9798-7A46509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M1, M2 e M3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D43B4C9-E099-4F5C-81E6-2BC2F2C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1470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F0D0CD-866B-47A3-98F8-C7671C5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C42C2A3-49B0-41BD-B88B-5EF9641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PERCEBER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364C2A-F54F-4EE2-97DE-FF3B16F2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RPLIDAR A1M8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2A0852E-183C-4812-B2FF-19DEB7C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655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55B5D7-1168-455E-A355-09F88AD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4056262-B6A8-466C-8999-7E787468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MAPEAR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FDD110-C714-4681-A8FC-E528AB4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próxima etapa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9AE0708-2CB0-4E3A-A1B7-84E920E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840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629C2F8-EE0A-4928-81C9-2D6DEB1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4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B92630D-75FD-43EB-8E7A-9800F2D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NOMEAR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9CF8A4-8163-438B-9BCF-8CFFA0E9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casa e destinos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2BD045E-7F63-4EFE-8A7F-80CFAB9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3025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9774EEA-C9B1-43BF-9DD6-74AD1E3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457F9FD-BF12-4214-8F34-BE6612E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GUIAR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59812E6-BD1B-42AA-8048-B09F712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chegar e retornar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9628B25-9D94-47A4-B0CA-4C7F92B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29312"/>
            <a:ext cx="16216312" cy="2071688"/>
          </a:xfrm>
          <a:custGeom xmlns:a="http://schemas.openxmlformats.org/drawingml/2006/main">
            <a:rect l="l" t="t" r="r" b="b"/>
            <a:pathLst>
              <a:path w="21621750" h="2762250">
                <a:moveTo>
                  <a:pt x="0" y="0"/>
                </a:moveTo>
                <a:lnTo>
                  <a:pt x="21621750" y="0"/>
                </a:lnTo>
                <a:lnTo>
                  <a:pt x="21621750" y="2762250"/>
                </a:lnTo>
                <a:lnTo>
                  <a:pt x="0" y="27622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45FEFDC-2253-4C1C-9D51-79F4915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6398895"/>
            <a:ext cx="5817870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Base e LiDAR: validados.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A6097E8-57B4-469E-8DFB-555EEA4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7084695"/>
            <a:ext cx="1453324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 próximo marco é gerar e salvar o primeiro mapa.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99F3B88-A240-4771-940F-82D1325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680132"/>
            <a:ext cx="15533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5"/>
              </a:lnSpc>
              <a:buNone/>
            </a:pPr>
            <a:r>
              <a:rPr sz="2362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CAD · eletrônica · ROS 2 · LiDAR · testes · documentação</a:t>
            </a:r>
          </a:p>
        </p:txBody>
      </p:sp>
    </p:spTree>
    <p:extLst>
      <p:ext uri="{BB962C8B-B14F-4D97-AF65-F5344CB8AC3E}">
        <p14:creationId xmlns:p14="http://schemas.microsoft.com/office/powerpoint/2010/main" val="11388719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C2A23B0-336C-4325-A15A-F23B576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69595"/>
            <a:ext cx="410337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A31DB71-597C-4466-A1B8-9528A8A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160270"/>
            <a:ext cx="13390245" cy="2983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Tecnologia aberta</a:t>
            </a:r>
          </a:p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é tecnologia que</a:t>
            </a:r>
          </a:p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pode evoluir com a comunidade.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5B80701-C9BD-4183-AEED-332A2AC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400800"/>
            <a:ext cx="4286250" cy="85725"/>
          </a:xfrm>
          <a:custGeom xmlns:a="http://schemas.openxmlformats.org/drawingml/2006/main">
            <a:rect l="l" t="t" r="r" b="b"/>
            <a:pathLst>
              <a:path w="5715000" h="114300">
                <a:moveTo>
                  <a:pt x="0" y="0"/>
                </a:moveTo>
                <a:lnTo>
                  <a:pt x="5715000" y="0"/>
                </a:lnTo>
                <a:lnTo>
                  <a:pt x="571500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57DDAF5-9624-4208-8B32-2AC2A804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027545"/>
            <a:ext cx="12675870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Construir · documentar · compartilhar · melhorar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AA77A9A-3822-414C-9E0A-CF66125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965757"/>
            <a:ext cx="106756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O robô-guia é a meta.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A plataforma aberta é o caminho que já começou.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68D5A80-BF5A-445C-9DD3-693E8A8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7375" y="6943725"/>
            <a:ext cx="3286125" cy="1228725"/>
          </a:xfrm>
          <a:custGeom xmlns:a="http://schemas.openxmlformats.org/drawingml/2006/main">
            <a:rect l="l" t="t" r="r" b="b"/>
            <a:pathLst>
              <a:path w="4381500" h="16383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4152900" y="0"/>
                </a:lnTo>
                <a:cubicBezTo>
                  <a:pt x="4279138" y="0"/>
                  <a:pt x="4381500" y="102362"/>
                  <a:pt x="4381500" y="228600"/>
                </a:cubicBezTo>
                <a:lnTo>
                  <a:pt x="4381500" y="1409700"/>
                </a:lnTo>
                <a:cubicBezTo>
                  <a:pt x="4381500" y="1535938"/>
                  <a:pt x="4279138" y="1638300"/>
                  <a:pt x="4152900" y="1638300"/>
                </a:cubicBezTo>
                <a:lnTo>
                  <a:pt x="228600" y="1638300"/>
                </a:lnTo>
                <a:cubicBezTo>
                  <a:pt x="102362" y="1638300"/>
                  <a:pt x="0" y="1535938"/>
                  <a:pt x="0" y="14097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550C64-BA99-4A7B-802A-CB16198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8815" y="7341870"/>
            <a:ext cx="3103245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Vamos construir?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1AB4FA-7116-426E-8AFD-A8DA13B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0440" y="9399270"/>
            <a:ext cx="1531620" cy="270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Perguntas</a:t>
            </a:r>
          </a:p>
        </p:txBody>
      </p:sp>
    </p:spTree>
    <p:extLst>
      <p:ext uri="{BB962C8B-B14F-4D97-AF65-F5344CB8AC3E}">
        <p14:creationId xmlns:p14="http://schemas.microsoft.com/office/powerpoint/2010/main" val="13863256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2026-10-08T17:18:29.5610000Z</dcterms:created>
  <dcterms:modified xsi:type="dcterms:W3CDTF">2026-10-08T17:18:29.5610000Z</dcterms:modified>
</coreProperties>
</file>